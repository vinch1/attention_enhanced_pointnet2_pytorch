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layout/>
      <c:overlay val="0"/>
    </c:title>
    <c:autoTitleDeleted val="0"/>
    <c:plotArea>
      <c:barChart>
        <c:barDir val="col"/>
        <c:grouping val="clustered"/>
        <c:ser>
          <c:idx val="0"/>
          <c:order val="0"/>
          <c:tx>
            <c:strRef>
              <c:f>Sheet1!$B$1</c:f>
              <c:strCache>
                <c:ptCount val="1"/>
                <c:pt idx="0">
                  <c:v>Instance Accuracy</c:v>
                </c:pt>
              </c:strCache>
            </c:strRef>
          </c:tx>
          <c:spPr>
            <a:solidFill>
              <a:srgbClr val="0078D4"/>
            </a:solidFill>
          </c:spPr>
          <c:cat>
            <c:strRef>
              <c:f>Sheet1!$A$2:$A$5</c:f>
              <c:strCache>
                <c:ptCount val="4"/>
                <c:pt idx="0">
                  <c:v>Baseline</c:v>
                </c:pt>
                <c:pt idx="1">
                  <c:v>SE</c:v>
                </c:pt>
                <c:pt idx="2">
                  <c:v>attn-v1</c:v>
                </c:pt>
                <c:pt idx="3">
                  <c:v>attn-v2</c:v>
                </c:pt>
              </c:strCache>
            </c:strRef>
          </c:cat>
          <c:val>
            <c:numRef>
              <c:f>Sheet1!$B$2:$B$5</c:f>
              <c:numCache>
                <c:formatCode>General</c:formatCode>
                <c:ptCount val="4"/>
                <c:pt idx="0">
                  <c:v>92.459</c:v>
                </c:pt>
                <c:pt idx="1">
                  <c:v>91.976</c:v>
                </c:pt>
                <c:pt idx="2">
                  <c:v>91.392</c:v>
                </c:pt>
                <c:pt idx="3">
                  <c:v>92.056</c:v>
                </c:pt>
              </c:numCache>
            </c:numRef>
          </c:val>
        </c:ser>
        <c:ser>
          <c:idx val="1"/>
          <c:order val="1"/>
          <c:tx>
            <c:strRef>
              <c:f>Sheet1!$C$1</c:f>
              <c:strCache>
                <c:ptCount val="1"/>
                <c:pt idx="0">
                  <c:v>Class Accuracy</c:v>
                </c:pt>
              </c:strCache>
            </c:strRef>
          </c:tx>
          <c:spPr>
            <a:solidFill>
              <a:srgbClr val="5197FF"/>
            </a:solidFill>
          </c:spPr>
          <c:cat>
            <c:strRef>
              <c:f>Sheet1!$A$2:$A$5</c:f>
              <c:strCache>
                <c:ptCount val="4"/>
                <c:pt idx="0">
                  <c:v>Baseline</c:v>
                </c:pt>
                <c:pt idx="1">
                  <c:v>SE</c:v>
                </c:pt>
                <c:pt idx="2">
                  <c:v>attn-v1</c:v>
                </c:pt>
                <c:pt idx="3">
                  <c:v>attn-v2</c:v>
                </c:pt>
              </c:strCache>
            </c:strRef>
          </c:cat>
          <c:val>
            <c:numRef>
              <c:f>Sheet1!$C$2:$C$5</c:f>
              <c:numCache>
                <c:formatCode>General</c:formatCode>
                <c:ptCount val="4"/>
                <c:pt idx="0">
                  <c:v>89.175</c:v>
                </c:pt>
                <c:pt idx="1">
                  <c:v>89.626</c:v>
                </c:pt>
                <c:pt idx="2">
                  <c:v>86.231</c:v>
                </c:pt>
                <c:pt idx="3">
                  <c:v>89.597</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00.0"/>
          <c:min val="80.0"/>
        </c:scaling>
        <c:delete val="0"/>
        <c:axPos val="l"/>
        <c:majorGridlines/>
        <c:majorTickMark val="out"/>
        <c:minorTickMark val="none"/>
        <c:tickLblPos val="nextTo"/>
        <c:txPr>
          <a:bodyPr/>
          <a:lstStyle/>
          <a:p>
            <a:pPr>
              <a:defRPr sz="1000"/>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Baseline</c:v>
                </c:pt>
              </c:strCache>
            </c:strRef>
          </c:tx>
          <c:spPr>
            <a:ln w="31750">
              <a:solidFill>
                <a:srgbClr val="122747"/>
              </a:solidFill>
            </a:ln>
          </c:spPr>
          <c:cat>
            <c:strRef>
              <c:f>Sheet1!$A$2:$A$9</c:f>
              <c:strCache>
                <c:ptCount val="8"/>
                <c:pt idx="0">
                  <c:v>1</c:v>
                </c:pt>
                <c:pt idx="1">
                  <c:v>5</c:v>
                </c:pt>
                <c:pt idx="2">
                  <c:v>10</c:v>
                </c:pt>
                <c:pt idx="3">
                  <c:v>20</c:v>
                </c:pt>
                <c:pt idx="4">
                  <c:v>40</c:v>
                </c:pt>
                <c:pt idx="5">
                  <c:v>60</c:v>
                </c:pt>
                <c:pt idx="6">
                  <c:v>80</c:v>
                </c:pt>
                <c:pt idx="7">
                  <c:v>100</c:v>
                </c:pt>
              </c:strCache>
            </c:strRef>
          </c:cat>
          <c:val>
            <c:numRef>
              <c:f>Sheet1!$B$2:$B$9</c:f>
              <c:numCache>
                <c:formatCode>General</c:formatCode>
                <c:ptCount val="8"/>
                <c:pt idx="0">
                  <c:v>71.726</c:v>
                </c:pt>
                <c:pt idx="1">
                  <c:v>87.599</c:v>
                </c:pt>
                <c:pt idx="2">
                  <c:v>83.631</c:v>
                </c:pt>
                <c:pt idx="3">
                  <c:v>94.246</c:v>
                </c:pt>
                <c:pt idx="4">
                  <c:v>96.627</c:v>
                </c:pt>
                <c:pt idx="5">
                  <c:v>98.611</c:v>
                </c:pt>
                <c:pt idx="6">
                  <c:v>98.016</c:v>
                </c:pt>
                <c:pt idx="7">
                  <c:v>98.611</c:v>
                </c:pt>
              </c:numCache>
            </c:numRef>
          </c:val>
          <c:smooth val="0"/>
        </c:ser>
        <c:ser>
          <c:idx val="1"/>
          <c:order val="1"/>
          <c:tx>
            <c:strRef>
              <c:f>Sheet1!$C$1</c:f>
              <c:strCache>
                <c:ptCount val="1"/>
                <c:pt idx="0">
                  <c:v>attn-v2</c:v>
                </c:pt>
              </c:strCache>
            </c:strRef>
          </c:tx>
          <c:spPr>
            <a:ln w="31750">
              <a:solidFill>
                <a:srgbClr val="0078D4"/>
              </a:solidFill>
            </a:ln>
          </c:spPr>
          <c:cat>
            <c:strRef>
              <c:f>Sheet1!$A$2:$A$9</c:f>
              <c:strCache>
                <c:ptCount val="8"/>
                <c:pt idx="0">
                  <c:v>1</c:v>
                </c:pt>
                <c:pt idx="1">
                  <c:v>5</c:v>
                </c:pt>
                <c:pt idx="2">
                  <c:v>10</c:v>
                </c:pt>
                <c:pt idx="3">
                  <c:v>20</c:v>
                </c:pt>
                <c:pt idx="4">
                  <c:v>40</c:v>
                </c:pt>
                <c:pt idx="5">
                  <c:v>60</c:v>
                </c:pt>
                <c:pt idx="6">
                  <c:v>80</c:v>
                </c:pt>
                <c:pt idx="7">
                  <c:v>100</c:v>
                </c:pt>
              </c:strCache>
            </c:strRef>
          </c:cat>
          <c:val>
            <c:numRef>
              <c:f>Sheet1!$C$2:$C$9</c:f>
              <c:numCache>
                <c:formatCode>General</c:formatCode>
                <c:ptCount val="8"/>
                <c:pt idx="0">
                  <c:v>37.798</c:v>
                </c:pt>
                <c:pt idx="1">
                  <c:v>89.683</c:v>
                </c:pt>
                <c:pt idx="2">
                  <c:v>89.583</c:v>
                </c:pt>
                <c:pt idx="3">
                  <c:v>95.139</c:v>
                </c:pt>
                <c:pt idx="4">
                  <c:v>97.718</c:v>
                </c:pt>
                <c:pt idx="5">
                  <c:v>98.313</c:v>
                </c:pt>
                <c:pt idx="6">
                  <c:v>98.115</c:v>
                </c:pt>
                <c:pt idx="7">
                  <c:v>98.512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100.0"/>
          <c:min val="30.0"/>
        </c:scaling>
        <c:delete val="0"/>
        <c:axPos val="l"/>
        <c:majorGridlines/>
        <c:majorTickMark val="out"/>
        <c:minorTickMark val="none"/>
        <c:tickLblPos val="nextTo"/>
        <c:txPr>
          <a:bodyPr/>
          <a:lstStyle/>
          <a:p>
            <a:pPr>
              <a:defRPr sz="1000"/>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138160" y="-548640"/>
            <a:ext cx="4754880" cy="4754880"/>
          </a:xfrm>
          <a:prstGeom prst="ellipse">
            <a:avLst/>
          </a:prstGeom>
          <a:solidFill>
            <a:srgbClr val="E9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875520" y="4389120"/>
            <a:ext cx="2743200" cy="2743200"/>
          </a:xfrm>
          <a:prstGeom prst="ellipse">
            <a:avLst/>
          </a:prstGeom>
          <a:solidFill>
            <a:srgbClr val="F4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960120"/>
            <a:ext cx="7589520" cy="1463040"/>
          </a:xfrm>
          <a:prstGeom prst="rect">
            <a:avLst/>
          </a:prstGeom>
          <a:noFill/>
        </p:spPr>
        <p:txBody>
          <a:bodyPr wrap="none">
            <a:spAutoFit/>
          </a:bodyPr>
          <a:lstStyle/>
          <a:p>
            <a:pPr>
              <a:defRPr b="1" sz="3400">
                <a:solidFill>
                  <a:srgbClr val="122747"/>
                </a:solidFill>
                <a:latin typeface="Avenir Next"/>
              </a:defRPr>
            </a:pPr>
            <a:r>
              <a:t>PointNet++ Attention Enhancement</a:t>
            </a:r>
          </a:p>
          <a:p>
            <a:pPr>
              <a:defRPr sz="3400" b="1">
                <a:solidFill>
                  <a:srgbClr val="122747"/>
                </a:solidFill>
                <a:latin typeface="Avenir Next"/>
              </a:defRPr>
            </a:pPr>
            <a:r>
              <a:t>ModelNet40 and 3D MNIST Classification Study</a:t>
            </a:r>
          </a:p>
        </p:txBody>
      </p:sp>
      <p:sp>
        <p:nvSpPr>
          <p:cNvPr id="6" name="TextBox 5"/>
          <p:cNvSpPr txBox="1"/>
          <p:nvPr/>
        </p:nvSpPr>
        <p:spPr>
          <a:xfrm>
            <a:off x="731520" y="2606040"/>
            <a:ext cx="6400800" cy="914400"/>
          </a:xfrm>
          <a:prstGeom prst="rect">
            <a:avLst/>
          </a:prstGeom>
          <a:noFill/>
        </p:spPr>
        <p:txBody>
          <a:bodyPr wrap="none">
            <a:spAutoFit/>
          </a:bodyPr>
          <a:lstStyle/>
          <a:p>
            <a:pPr>
              <a:defRPr sz="1800">
                <a:solidFill>
                  <a:srgbClr val="57667A"/>
                </a:solidFill>
                <a:latin typeface="Avenir Next"/>
              </a:defRPr>
            </a:pPr>
            <a:r>
              <a:t>Light theme presentation generated from the narrative project report</a:t>
            </a:r>
          </a:p>
          <a:p>
            <a:pPr>
              <a:defRPr sz="1600">
                <a:solidFill>
                  <a:srgbClr val="57667A"/>
                </a:solidFill>
                <a:latin typeface="Avenir Next"/>
              </a:defRPr>
            </a:pPr>
            <a:r>
              <a:t>Style: Corporate Professional, adapted for a clean academic presentation</a:t>
            </a:r>
          </a:p>
        </p:txBody>
      </p:sp>
      <p:sp>
        <p:nvSpPr>
          <p:cNvPr id="7" name="Rounded Rectangle 6"/>
          <p:cNvSpPr/>
          <p:nvPr/>
        </p:nvSpPr>
        <p:spPr>
          <a:xfrm>
            <a:off x="713232" y="3794760"/>
            <a:ext cx="201168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3931920"/>
            <a:ext cx="1682496" cy="475488"/>
          </a:xfrm>
          <a:prstGeom prst="rect">
            <a:avLst/>
          </a:prstGeom>
          <a:noFill/>
        </p:spPr>
        <p:txBody>
          <a:bodyPr wrap="none">
            <a:spAutoFit/>
          </a:bodyPr>
          <a:lstStyle/>
          <a:p>
            <a:pPr>
              <a:defRPr b="1" sz="2800">
                <a:solidFill>
                  <a:srgbClr val="122747"/>
                </a:solidFill>
                <a:latin typeface="Avenir Next"/>
              </a:defRPr>
            </a:pPr>
            <a:r>
              <a:t>92.459%</a:t>
            </a:r>
          </a:p>
        </p:txBody>
      </p:sp>
      <p:sp>
        <p:nvSpPr>
          <p:cNvPr id="9" name="TextBox 8"/>
          <p:cNvSpPr txBox="1"/>
          <p:nvPr/>
        </p:nvSpPr>
        <p:spPr>
          <a:xfrm>
            <a:off x="877824" y="4453128"/>
            <a:ext cx="1682496" cy="347472"/>
          </a:xfrm>
          <a:prstGeom prst="rect">
            <a:avLst/>
          </a:prstGeom>
          <a:noFill/>
        </p:spPr>
        <p:txBody>
          <a:bodyPr wrap="none">
            <a:spAutoFit/>
          </a:bodyPr>
          <a:lstStyle/>
          <a:p>
            <a:pPr>
              <a:defRPr sz="1300">
                <a:solidFill>
                  <a:srgbClr val="233248"/>
                </a:solidFill>
                <a:latin typeface="Avenir Next"/>
              </a:defRPr>
            </a:pPr>
            <a:r>
              <a:t>Best local baseline on ModelNet40</a:t>
            </a:r>
          </a:p>
        </p:txBody>
      </p:sp>
      <p:sp>
        <p:nvSpPr>
          <p:cNvPr id="10" name="Rounded Rectangle 9"/>
          <p:cNvSpPr/>
          <p:nvPr/>
        </p:nvSpPr>
        <p:spPr>
          <a:xfrm>
            <a:off x="2907792" y="3794760"/>
            <a:ext cx="201168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72384" y="3931920"/>
            <a:ext cx="1682496" cy="475488"/>
          </a:xfrm>
          <a:prstGeom prst="rect">
            <a:avLst/>
          </a:prstGeom>
          <a:noFill/>
        </p:spPr>
        <p:txBody>
          <a:bodyPr wrap="none">
            <a:spAutoFit/>
          </a:bodyPr>
          <a:lstStyle/>
          <a:p>
            <a:pPr>
              <a:defRPr b="1" sz="2800">
                <a:solidFill>
                  <a:srgbClr val="0078D4"/>
                </a:solidFill>
                <a:latin typeface="Avenir Next"/>
              </a:defRPr>
            </a:pPr>
            <a:r>
              <a:t>92.056%</a:t>
            </a:r>
          </a:p>
        </p:txBody>
      </p:sp>
      <p:sp>
        <p:nvSpPr>
          <p:cNvPr id="12" name="TextBox 11"/>
          <p:cNvSpPr txBox="1"/>
          <p:nvPr/>
        </p:nvSpPr>
        <p:spPr>
          <a:xfrm>
            <a:off x="3072384" y="4453128"/>
            <a:ext cx="1682496" cy="347472"/>
          </a:xfrm>
          <a:prstGeom prst="rect">
            <a:avLst/>
          </a:prstGeom>
          <a:noFill/>
        </p:spPr>
        <p:txBody>
          <a:bodyPr wrap="none">
            <a:spAutoFit/>
          </a:bodyPr>
          <a:lstStyle/>
          <a:p>
            <a:pPr>
              <a:defRPr sz="1300">
                <a:solidFill>
                  <a:srgbClr val="233248"/>
                </a:solidFill>
                <a:latin typeface="Avenir Next"/>
              </a:defRPr>
            </a:pPr>
            <a:r>
              <a:t>Best attn-v2 on ModelNet40</a:t>
            </a:r>
          </a:p>
        </p:txBody>
      </p:sp>
      <p:sp>
        <p:nvSpPr>
          <p:cNvPr id="13" name="Rounded Rectangle 12"/>
          <p:cNvSpPr/>
          <p:nvPr/>
        </p:nvSpPr>
        <p:spPr>
          <a:xfrm>
            <a:off x="5102352" y="3794760"/>
            <a:ext cx="201168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6944" y="3931920"/>
            <a:ext cx="1682496" cy="475488"/>
          </a:xfrm>
          <a:prstGeom prst="rect">
            <a:avLst/>
          </a:prstGeom>
          <a:noFill/>
        </p:spPr>
        <p:txBody>
          <a:bodyPr wrap="none">
            <a:spAutoFit/>
          </a:bodyPr>
          <a:lstStyle/>
          <a:p>
            <a:pPr>
              <a:defRPr b="1" sz="2800">
                <a:solidFill>
                  <a:srgbClr val="198754"/>
                </a:solidFill>
                <a:latin typeface="Avenir Next"/>
              </a:defRPr>
            </a:pPr>
            <a:r>
              <a:t>98.710%</a:t>
            </a:r>
          </a:p>
        </p:txBody>
      </p:sp>
      <p:sp>
        <p:nvSpPr>
          <p:cNvPr id="15" name="TextBox 14"/>
          <p:cNvSpPr txBox="1"/>
          <p:nvPr/>
        </p:nvSpPr>
        <p:spPr>
          <a:xfrm>
            <a:off x="5266944" y="4453128"/>
            <a:ext cx="1682496" cy="347472"/>
          </a:xfrm>
          <a:prstGeom prst="rect">
            <a:avLst/>
          </a:prstGeom>
          <a:noFill/>
        </p:spPr>
        <p:txBody>
          <a:bodyPr wrap="none">
            <a:spAutoFit/>
          </a:bodyPr>
          <a:lstStyle/>
          <a:p>
            <a:pPr>
              <a:defRPr sz="1300">
                <a:solidFill>
                  <a:srgbClr val="233248"/>
                </a:solidFill>
                <a:latin typeface="Avenir Next"/>
              </a:defRPr>
            </a:pPr>
            <a:r>
              <a:t>Best attn-v2 on 3D MNIST</a:t>
            </a:r>
          </a:p>
        </p:txBody>
      </p:sp>
      <p:sp>
        <p:nvSpPr>
          <p:cNvPr id="16" name="TextBox 15"/>
          <p:cNvSpPr txBox="1"/>
          <p:nvPr/>
        </p:nvSpPr>
        <p:spPr>
          <a:xfrm>
            <a:off x="731520" y="5760720"/>
            <a:ext cx="8412480" cy="365760"/>
          </a:xfrm>
          <a:prstGeom prst="rect">
            <a:avLst/>
          </a:prstGeom>
          <a:noFill/>
        </p:spPr>
        <p:txBody>
          <a:bodyPr wrap="none">
            <a:spAutoFit/>
          </a:bodyPr>
          <a:lstStyle/>
          <a:p>
            <a:pPr>
              <a:defRPr sz="1100">
                <a:solidFill>
                  <a:srgbClr val="57667A"/>
                </a:solidFill>
                <a:latin typeface="Avenir Next"/>
              </a:defRPr>
            </a:pPr>
            <a:r>
              <a:t>Source report: docs/reports/2026-04-13-pointnet2-attnv2-report-narrative.md</a:t>
            </a:r>
          </a:p>
        </p:txBody>
      </p:sp>
      <p:sp>
        <p:nvSpPr>
          <p:cNvPr id="17" name="Rectangle 16"/>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9" name="TextBox 18"/>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Context</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Project Scope</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Two parallel threads shaped the final outcome</a:t>
            </a:r>
          </a:p>
        </p:txBody>
      </p:sp>
      <p:sp>
        <p:nvSpPr>
          <p:cNvPr id="6" name="Rounded Rectangle 5"/>
          <p:cNvSpPr/>
          <p:nvPr/>
        </p:nvSpPr>
        <p:spPr>
          <a:xfrm>
            <a:off x="731520" y="1828800"/>
            <a:ext cx="347472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34747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3145536" cy="411480"/>
          </a:xfrm>
          <a:prstGeom prst="rect">
            <a:avLst/>
          </a:prstGeom>
          <a:noFill/>
        </p:spPr>
        <p:txBody>
          <a:bodyPr wrap="none">
            <a:spAutoFit/>
          </a:bodyPr>
          <a:lstStyle/>
          <a:p>
            <a:pPr>
              <a:defRPr b="1" sz="1800">
                <a:solidFill>
                  <a:srgbClr val="122747"/>
                </a:solidFill>
                <a:latin typeface="Avenir Next"/>
              </a:defRPr>
            </a:pPr>
            <a:r>
              <a:t>Engineering Track</a:t>
            </a:r>
          </a:p>
        </p:txBody>
      </p:sp>
      <p:sp>
        <p:nvSpPr>
          <p:cNvPr id="9" name="TextBox 8"/>
          <p:cNvSpPr txBox="1"/>
          <p:nvPr/>
        </p:nvSpPr>
        <p:spPr>
          <a:xfrm>
            <a:off x="896112" y="2340864"/>
            <a:ext cx="314553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Stabilize training on Apple Silicon and MPS.</a:t>
            </a:r>
          </a:p>
          <a:p>
            <a:pPr>
              <a:lnSpc>
                <a:spcPct val="115000"/>
              </a:lnSpc>
              <a:spcAft>
                <a:spcPts val="600"/>
              </a:spcAft>
              <a:defRPr sz="1400">
                <a:solidFill>
                  <a:srgbClr val="233248"/>
                </a:solidFill>
                <a:latin typeface="Avenir Next"/>
              </a:defRPr>
            </a:pPr>
            <a:r>
              <a:t>Harden PointNet++ utilities for safer indexing, masking, and dataloader behavior.</a:t>
            </a:r>
          </a:p>
          <a:p>
            <a:pPr>
              <a:lnSpc>
                <a:spcPct val="115000"/>
              </a:lnSpc>
              <a:spcAft>
                <a:spcPts val="600"/>
              </a:spcAft>
              <a:defRPr sz="1400">
                <a:solidFill>
                  <a:srgbClr val="233248"/>
                </a:solidFill>
                <a:latin typeface="Avenir Next"/>
              </a:defRPr>
            </a:pPr>
            <a:r>
              <a:t>Build a reusable logging pipeline with structured experiment records.</a:t>
            </a:r>
          </a:p>
        </p:txBody>
      </p:sp>
      <p:sp>
        <p:nvSpPr>
          <p:cNvPr id="10" name="Rounded Rectangle 9"/>
          <p:cNvSpPr/>
          <p:nvPr/>
        </p:nvSpPr>
        <p:spPr>
          <a:xfrm>
            <a:off x="4389120" y="1828800"/>
            <a:ext cx="347472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828800"/>
            <a:ext cx="347472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75104"/>
            <a:ext cx="3145536" cy="411480"/>
          </a:xfrm>
          <a:prstGeom prst="rect">
            <a:avLst/>
          </a:prstGeom>
          <a:noFill/>
        </p:spPr>
        <p:txBody>
          <a:bodyPr wrap="none">
            <a:spAutoFit/>
          </a:bodyPr>
          <a:lstStyle/>
          <a:p>
            <a:pPr>
              <a:defRPr b="1" sz="1800">
                <a:solidFill>
                  <a:srgbClr val="122747"/>
                </a:solidFill>
                <a:latin typeface="Avenir Next"/>
              </a:defRPr>
            </a:pPr>
            <a:r>
              <a:t>Architecture Track</a:t>
            </a:r>
          </a:p>
        </p:txBody>
      </p:sp>
      <p:sp>
        <p:nvSpPr>
          <p:cNvPr id="13" name="TextBox 12"/>
          <p:cNvSpPr txBox="1"/>
          <p:nvPr/>
        </p:nvSpPr>
        <p:spPr>
          <a:xfrm>
            <a:off x="4553712" y="2340864"/>
            <a:ext cx="314553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Start from PointNet++ SSG as the baseline.</a:t>
            </a:r>
          </a:p>
          <a:p>
            <a:pPr>
              <a:lnSpc>
                <a:spcPct val="115000"/>
              </a:lnSpc>
              <a:spcAft>
                <a:spcPts val="600"/>
              </a:spcAft>
              <a:defRPr sz="1400">
                <a:solidFill>
                  <a:srgbClr val="233248"/>
                </a:solidFill>
                <a:latin typeface="Avenir Next"/>
              </a:defRPr>
            </a:pPr>
            <a:r>
              <a:t>Explore SE blocks, local attention pooling, and cross-level fusion.</a:t>
            </a:r>
          </a:p>
          <a:p>
            <a:pPr>
              <a:lnSpc>
                <a:spcPct val="115000"/>
              </a:lnSpc>
              <a:spcAft>
                <a:spcPts val="600"/>
              </a:spcAft>
              <a:defRPr sz="1400">
                <a:solidFill>
                  <a:srgbClr val="233248"/>
                </a:solidFill>
                <a:latin typeface="Avenir Next"/>
              </a:defRPr>
            </a:pPr>
            <a:r>
              <a:t>Diagnose the failure of attention v1 and redesign it into attention v2.</a:t>
            </a:r>
          </a:p>
        </p:txBody>
      </p:sp>
      <p:sp>
        <p:nvSpPr>
          <p:cNvPr id="14" name="Rounded Rectangle 13"/>
          <p:cNvSpPr/>
          <p:nvPr/>
        </p:nvSpPr>
        <p:spPr>
          <a:xfrm>
            <a:off x="8046720" y="1828800"/>
            <a:ext cx="338328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338328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975104"/>
            <a:ext cx="3054096" cy="411480"/>
          </a:xfrm>
          <a:prstGeom prst="rect">
            <a:avLst/>
          </a:prstGeom>
          <a:noFill/>
        </p:spPr>
        <p:txBody>
          <a:bodyPr wrap="none">
            <a:spAutoFit/>
          </a:bodyPr>
          <a:lstStyle/>
          <a:p>
            <a:pPr>
              <a:defRPr b="1" sz="1800">
                <a:solidFill>
                  <a:srgbClr val="122747"/>
                </a:solidFill>
                <a:latin typeface="Avenir Next"/>
              </a:defRPr>
            </a:pPr>
            <a:r>
              <a:t>Outcome</a:t>
            </a:r>
          </a:p>
        </p:txBody>
      </p:sp>
      <p:sp>
        <p:nvSpPr>
          <p:cNvPr id="17" name="TextBox 16"/>
          <p:cNvSpPr txBox="1"/>
          <p:nvPr/>
        </p:nvSpPr>
        <p:spPr>
          <a:xfrm>
            <a:off x="8211312" y="2340864"/>
            <a:ext cx="305409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 stable Mac-compatible codebase.</a:t>
            </a:r>
          </a:p>
          <a:p>
            <a:pPr>
              <a:lnSpc>
                <a:spcPct val="115000"/>
              </a:lnSpc>
              <a:spcAft>
                <a:spcPts val="600"/>
              </a:spcAft>
              <a:defRPr sz="1400">
                <a:solidFill>
                  <a:srgbClr val="233248"/>
                </a:solidFill>
                <a:latin typeface="Avenir Next"/>
              </a:defRPr>
            </a:pPr>
            <a:r>
              <a:t>A corrected attention model that is much stronger than the first attempt.</a:t>
            </a:r>
          </a:p>
          <a:p>
            <a:pPr>
              <a:lnSpc>
                <a:spcPct val="115000"/>
              </a:lnSpc>
              <a:spcAft>
                <a:spcPts val="600"/>
              </a:spcAft>
              <a:defRPr sz="1400">
                <a:solidFill>
                  <a:srgbClr val="233248"/>
                </a:solidFill>
                <a:latin typeface="Avenir Next"/>
              </a:defRPr>
            </a:pPr>
            <a:r>
              <a:t>A second-dataset evaluation pipeline on 3D MNIST.</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0" name="TextBox 19"/>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2/16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Timeline</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Codebase Evolution</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project progressed through four branches</a:t>
            </a:r>
          </a:p>
        </p:txBody>
      </p:sp>
      <p:sp>
        <p:nvSpPr>
          <p:cNvPr id="6" name="TextBox 5"/>
          <p:cNvSpPr txBox="1"/>
          <p:nvPr/>
        </p:nvSpPr>
        <p:spPr>
          <a:xfrm>
            <a:off x="731520" y="1828800"/>
            <a:ext cx="10972800" cy="64008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The work moved from baseline reproduction to platform stabilization, then to corrected architecture design, and finally to cross-dataset validation.</a:t>
            </a:r>
          </a:p>
        </p:txBody>
      </p:sp>
      <p:sp>
        <p:nvSpPr>
          <p:cNvPr id="7" name="Rectangle 6"/>
          <p:cNvSpPr/>
          <p:nvPr/>
        </p:nvSpPr>
        <p:spPr>
          <a:xfrm>
            <a:off x="822960" y="4297680"/>
            <a:ext cx="10515600" cy="36576"/>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4169664"/>
            <a:ext cx="237744" cy="237744"/>
          </a:xfrm>
          <a:prstGeom prst="ellipse">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462272"/>
            <a:ext cx="1097280" cy="731520"/>
          </a:xfrm>
          <a:prstGeom prst="rect">
            <a:avLst/>
          </a:prstGeom>
          <a:noFill/>
        </p:spPr>
        <p:txBody>
          <a:bodyPr wrap="none">
            <a:spAutoFit/>
          </a:bodyPr>
          <a:lstStyle/>
          <a:p>
            <a:pPr algn="ctr">
              <a:defRPr sz="1100">
                <a:solidFill>
                  <a:srgbClr val="233248"/>
                </a:solidFill>
                <a:latin typeface="Avenir Next"/>
              </a:defRPr>
            </a:pPr>
            <a:r>
              <a:t>master</a:t>
            </a:r>
            <a:br/>
            <a:r>
              <a:t>Upstream</a:t>
            </a:r>
          </a:p>
        </p:txBody>
      </p:sp>
      <p:sp>
        <p:nvSpPr>
          <p:cNvPr id="10" name="Oval 9"/>
          <p:cNvSpPr/>
          <p:nvPr/>
        </p:nvSpPr>
        <p:spPr>
          <a:xfrm>
            <a:off x="2834640" y="4169664"/>
            <a:ext cx="237744" cy="237744"/>
          </a:xfrm>
          <a:prstGeom prst="ellipse">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4462272"/>
            <a:ext cx="1097280" cy="731520"/>
          </a:xfrm>
          <a:prstGeom prst="rect">
            <a:avLst/>
          </a:prstGeom>
          <a:noFill/>
        </p:spPr>
        <p:txBody>
          <a:bodyPr wrap="none">
            <a:spAutoFit/>
          </a:bodyPr>
          <a:lstStyle/>
          <a:p>
            <a:pPr algn="ctr">
              <a:defRPr sz="1100">
                <a:solidFill>
                  <a:srgbClr val="233248"/>
                </a:solidFill>
                <a:latin typeface="Avenir Next"/>
              </a:defRPr>
            </a:pPr>
            <a:r>
              <a:t>feat/apple_silicon</a:t>
            </a:r>
            <a:br/>
            <a:r>
              <a:t>MPS support</a:t>
            </a:r>
          </a:p>
        </p:txBody>
      </p:sp>
      <p:sp>
        <p:nvSpPr>
          <p:cNvPr id="12" name="Oval 11"/>
          <p:cNvSpPr/>
          <p:nvPr/>
        </p:nvSpPr>
        <p:spPr>
          <a:xfrm>
            <a:off x="4800600" y="4169664"/>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4462272"/>
            <a:ext cx="1097280" cy="731520"/>
          </a:xfrm>
          <a:prstGeom prst="rect">
            <a:avLst/>
          </a:prstGeom>
          <a:noFill/>
        </p:spPr>
        <p:txBody>
          <a:bodyPr wrap="none">
            <a:spAutoFit/>
          </a:bodyPr>
          <a:lstStyle/>
          <a:p>
            <a:pPr algn="ctr">
              <a:defRPr sz="1100">
                <a:solidFill>
                  <a:srgbClr val="233248"/>
                </a:solidFill>
                <a:latin typeface="Avenir Next"/>
              </a:defRPr>
            </a:pPr>
            <a:r>
              <a:t>SE</a:t>
            </a:r>
            <a:br/>
            <a:r>
              <a:t>Channel attention</a:t>
            </a:r>
          </a:p>
        </p:txBody>
      </p:sp>
      <p:sp>
        <p:nvSpPr>
          <p:cNvPr id="14" name="Oval 13"/>
          <p:cNvSpPr/>
          <p:nvPr/>
        </p:nvSpPr>
        <p:spPr>
          <a:xfrm>
            <a:off x="6766560" y="4169664"/>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4462272"/>
            <a:ext cx="1097280" cy="731520"/>
          </a:xfrm>
          <a:prstGeom prst="rect">
            <a:avLst/>
          </a:prstGeom>
          <a:noFill/>
        </p:spPr>
        <p:txBody>
          <a:bodyPr wrap="none">
            <a:spAutoFit/>
          </a:bodyPr>
          <a:lstStyle/>
          <a:p>
            <a:pPr algn="ctr">
              <a:defRPr sz="1100">
                <a:solidFill>
                  <a:srgbClr val="233248"/>
                </a:solidFill>
                <a:latin typeface="Avenir Next"/>
              </a:defRPr>
            </a:pPr>
            <a:r>
              <a:t>attn-v1</a:t>
            </a:r>
            <a:br/>
            <a:r>
              <a:t>First attention</a:t>
            </a:r>
          </a:p>
        </p:txBody>
      </p:sp>
      <p:sp>
        <p:nvSpPr>
          <p:cNvPr id="16" name="Oval 15"/>
          <p:cNvSpPr/>
          <p:nvPr/>
        </p:nvSpPr>
        <p:spPr>
          <a:xfrm>
            <a:off x="8732520" y="4169664"/>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4462272"/>
            <a:ext cx="1097280" cy="731520"/>
          </a:xfrm>
          <a:prstGeom prst="rect">
            <a:avLst/>
          </a:prstGeom>
          <a:noFill/>
        </p:spPr>
        <p:txBody>
          <a:bodyPr wrap="none">
            <a:spAutoFit/>
          </a:bodyPr>
          <a:lstStyle/>
          <a:p>
            <a:pPr algn="ctr">
              <a:defRPr sz="1100">
                <a:solidFill>
                  <a:srgbClr val="233248"/>
                </a:solidFill>
                <a:latin typeface="Avenir Next"/>
              </a:defRPr>
            </a:pPr>
            <a:r>
              <a:t>attn-v2</a:t>
            </a:r>
            <a:br/>
            <a:r>
              <a:t>Corrected design</a:t>
            </a:r>
          </a:p>
        </p:txBody>
      </p:sp>
      <p:sp>
        <p:nvSpPr>
          <p:cNvPr id="18" name="Oval 17"/>
          <p:cNvSpPr/>
          <p:nvPr/>
        </p:nvSpPr>
        <p:spPr>
          <a:xfrm>
            <a:off x="10698480" y="4169664"/>
            <a:ext cx="237744" cy="237744"/>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0" y="4462272"/>
            <a:ext cx="1097280" cy="731520"/>
          </a:xfrm>
          <a:prstGeom prst="rect">
            <a:avLst/>
          </a:prstGeom>
          <a:noFill/>
        </p:spPr>
        <p:txBody>
          <a:bodyPr wrap="none">
            <a:spAutoFit/>
          </a:bodyPr>
          <a:lstStyle/>
          <a:p>
            <a:pPr algn="ctr">
              <a:defRPr sz="1100">
                <a:solidFill>
                  <a:srgbClr val="233248"/>
                </a:solidFill>
                <a:latin typeface="Avenir Next"/>
              </a:defRPr>
            </a:pPr>
            <a:r>
              <a:t>3D MNIST</a:t>
            </a:r>
            <a:br/>
            <a:r>
              <a:t>Cross-dataset</a:t>
            </a:r>
          </a:p>
        </p:txBody>
      </p:sp>
      <p:sp>
        <p:nvSpPr>
          <p:cNvPr id="20" name="Rounded Rectangle 19"/>
          <p:cNvSpPr/>
          <p:nvPr/>
        </p:nvSpPr>
        <p:spPr>
          <a:xfrm>
            <a:off x="822960" y="4983480"/>
            <a:ext cx="3246120" cy="10515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983480"/>
            <a:ext cx="32461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5129784"/>
            <a:ext cx="2916936" cy="411480"/>
          </a:xfrm>
          <a:prstGeom prst="rect">
            <a:avLst/>
          </a:prstGeom>
          <a:noFill/>
        </p:spPr>
        <p:txBody>
          <a:bodyPr wrap="none">
            <a:spAutoFit/>
          </a:bodyPr>
          <a:lstStyle/>
          <a:p>
            <a:pPr>
              <a:defRPr b="1" sz="1600">
                <a:solidFill>
                  <a:srgbClr val="122747"/>
                </a:solidFill>
                <a:latin typeface="Avenir Next"/>
              </a:defRPr>
            </a:pPr>
            <a:r>
              <a:t>Key branch</a:t>
            </a:r>
          </a:p>
        </p:txBody>
      </p:sp>
      <p:sp>
        <p:nvSpPr>
          <p:cNvPr id="23" name="TextBox 22"/>
          <p:cNvSpPr txBox="1"/>
          <p:nvPr/>
        </p:nvSpPr>
        <p:spPr>
          <a:xfrm>
            <a:off x="987552" y="5495544"/>
            <a:ext cx="2916936" cy="393192"/>
          </a:xfrm>
          <a:prstGeom prst="rect">
            <a:avLst/>
          </a:prstGeom>
          <a:noFill/>
        </p:spPr>
        <p:txBody>
          <a:bodyPr wrap="square">
            <a:spAutoFit/>
          </a:bodyPr>
          <a:lstStyle/>
          <a:p>
            <a:pPr>
              <a:lnSpc>
                <a:spcPct val="115000"/>
              </a:lnSpc>
              <a:spcAft>
                <a:spcPts val="600"/>
              </a:spcAft>
              <a:defRPr sz="1800">
                <a:solidFill>
                  <a:srgbClr val="233248"/>
                </a:solidFill>
                <a:latin typeface="Avenir Next"/>
              </a:defRPr>
            </a:pPr>
            <a:r>
              <a:t>feat/apple_silicon</a:t>
            </a:r>
          </a:p>
        </p:txBody>
      </p:sp>
      <p:sp>
        <p:nvSpPr>
          <p:cNvPr id="24" name="Rounded Rectangle 23"/>
          <p:cNvSpPr/>
          <p:nvPr/>
        </p:nvSpPr>
        <p:spPr>
          <a:xfrm>
            <a:off x="4480560" y="4983480"/>
            <a:ext cx="3246120" cy="10515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983480"/>
            <a:ext cx="324612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5152" y="5129784"/>
            <a:ext cx="2916936" cy="411480"/>
          </a:xfrm>
          <a:prstGeom prst="rect">
            <a:avLst/>
          </a:prstGeom>
          <a:noFill/>
        </p:spPr>
        <p:txBody>
          <a:bodyPr wrap="none">
            <a:spAutoFit/>
          </a:bodyPr>
          <a:lstStyle/>
          <a:p>
            <a:pPr>
              <a:defRPr b="1" sz="1600">
                <a:solidFill>
                  <a:srgbClr val="122747"/>
                </a:solidFill>
                <a:latin typeface="Avenir Next"/>
              </a:defRPr>
            </a:pPr>
            <a:r>
              <a:t>Key branch</a:t>
            </a:r>
          </a:p>
        </p:txBody>
      </p:sp>
      <p:sp>
        <p:nvSpPr>
          <p:cNvPr id="27" name="TextBox 26"/>
          <p:cNvSpPr txBox="1"/>
          <p:nvPr/>
        </p:nvSpPr>
        <p:spPr>
          <a:xfrm>
            <a:off x="4645152" y="5495544"/>
            <a:ext cx="2916936" cy="393192"/>
          </a:xfrm>
          <a:prstGeom prst="rect">
            <a:avLst/>
          </a:prstGeom>
          <a:noFill/>
        </p:spPr>
        <p:txBody>
          <a:bodyPr wrap="square">
            <a:spAutoFit/>
          </a:bodyPr>
          <a:lstStyle/>
          <a:p>
            <a:pPr>
              <a:lnSpc>
                <a:spcPct val="115000"/>
              </a:lnSpc>
              <a:spcAft>
                <a:spcPts val="600"/>
              </a:spcAft>
              <a:defRPr sz="1800">
                <a:solidFill>
                  <a:srgbClr val="233248"/>
                </a:solidFill>
                <a:latin typeface="Avenir Next"/>
              </a:defRPr>
            </a:pPr>
            <a:r>
              <a:t>codex/pointnet2-attn-v2-mac-safe</a:t>
            </a:r>
          </a:p>
        </p:txBody>
      </p:sp>
      <p:sp>
        <p:nvSpPr>
          <p:cNvPr id="28" name="Rounded Rectangle 27"/>
          <p:cNvSpPr/>
          <p:nvPr/>
        </p:nvSpPr>
        <p:spPr>
          <a:xfrm>
            <a:off x="8138160" y="4983480"/>
            <a:ext cx="3246120" cy="10515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4983480"/>
            <a:ext cx="324612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2752" y="5129784"/>
            <a:ext cx="2916936" cy="411480"/>
          </a:xfrm>
          <a:prstGeom prst="rect">
            <a:avLst/>
          </a:prstGeom>
          <a:noFill/>
        </p:spPr>
        <p:txBody>
          <a:bodyPr wrap="none">
            <a:spAutoFit/>
          </a:bodyPr>
          <a:lstStyle/>
          <a:p>
            <a:pPr>
              <a:defRPr b="1" sz="1600">
                <a:solidFill>
                  <a:srgbClr val="122747"/>
                </a:solidFill>
                <a:latin typeface="Avenir Next"/>
              </a:defRPr>
            </a:pPr>
            <a:r>
              <a:t>Key branch</a:t>
            </a:r>
          </a:p>
        </p:txBody>
      </p:sp>
      <p:sp>
        <p:nvSpPr>
          <p:cNvPr id="31" name="TextBox 30"/>
          <p:cNvSpPr txBox="1"/>
          <p:nvPr/>
        </p:nvSpPr>
        <p:spPr>
          <a:xfrm>
            <a:off x="8302752" y="5495544"/>
            <a:ext cx="2916936" cy="393192"/>
          </a:xfrm>
          <a:prstGeom prst="rect">
            <a:avLst/>
          </a:prstGeom>
          <a:noFill/>
        </p:spPr>
        <p:txBody>
          <a:bodyPr wrap="square">
            <a:spAutoFit/>
          </a:bodyPr>
          <a:lstStyle/>
          <a:p>
            <a:pPr>
              <a:lnSpc>
                <a:spcPct val="115000"/>
              </a:lnSpc>
              <a:spcAft>
                <a:spcPts val="600"/>
              </a:spcAft>
              <a:defRPr sz="1800">
                <a:solidFill>
                  <a:srgbClr val="233248"/>
                </a:solidFill>
                <a:latin typeface="Avenir Next"/>
              </a:defRPr>
            </a:pPr>
            <a:r>
              <a:t>codex/3dmnist-attnv2-training</a:t>
            </a:r>
          </a:p>
        </p:txBody>
      </p:sp>
      <p:sp>
        <p:nvSpPr>
          <p:cNvPr id="32" name="Rectangle 31"/>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34" name="TextBox 33"/>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3/16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Architecture</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Baseline Method</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PointNet++ SSG classification pipeline</a:t>
            </a:r>
          </a:p>
        </p:txBody>
      </p:sp>
      <p:sp>
        <p:nvSpPr>
          <p:cNvPr id="6" name="Rounded Rectangle 5"/>
          <p:cNvSpPr/>
          <p:nvPr/>
        </p:nvSpPr>
        <p:spPr>
          <a:xfrm>
            <a:off x="777240" y="1920240"/>
            <a:ext cx="219456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21945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066544"/>
            <a:ext cx="1865376" cy="411480"/>
          </a:xfrm>
          <a:prstGeom prst="rect">
            <a:avLst/>
          </a:prstGeom>
          <a:noFill/>
        </p:spPr>
        <p:txBody>
          <a:bodyPr wrap="none">
            <a:spAutoFit/>
          </a:bodyPr>
          <a:lstStyle/>
          <a:p>
            <a:pPr>
              <a:defRPr b="1" sz="1800">
                <a:solidFill>
                  <a:srgbClr val="122747"/>
                </a:solidFill>
                <a:latin typeface="Avenir Next"/>
              </a:defRPr>
            </a:pPr>
            <a:r>
              <a:t>SA1</a:t>
            </a:r>
          </a:p>
        </p:txBody>
      </p:sp>
      <p:sp>
        <p:nvSpPr>
          <p:cNvPr id="9" name="TextBox 8"/>
          <p:cNvSpPr txBox="1"/>
          <p:nvPr/>
        </p:nvSpPr>
        <p:spPr>
          <a:xfrm>
            <a:off x="941832" y="2432304"/>
            <a:ext cx="186537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512 points</a:t>
            </a:r>
          </a:p>
          <a:p>
            <a:pPr>
              <a:lnSpc>
                <a:spcPct val="115000"/>
              </a:lnSpc>
              <a:spcAft>
                <a:spcPts val="600"/>
              </a:spcAft>
              <a:defRPr sz="1400">
                <a:solidFill>
                  <a:srgbClr val="233248"/>
                </a:solidFill>
                <a:latin typeface="Avenir Next"/>
              </a:defRPr>
            </a:pPr>
            <a:r>
              <a:t>radius 0.2</a:t>
            </a:r>
          </a:p>
          <a:p>
            <a:pPr>
              <a:lnSpc>
                <a:spcPct val="115000"/>
              </a:lnSpc>
              <a:spcAft>
                <a:spcPts val="600"/>
              </a:spcAft>
              <a:defRPr sz="1400">
                <a:solidFill>
                  <a:srgbClr val="233248"/>
                </a:solidFill>
                <a:latin typeface="Avenir Next"/>
              </a:defRPr>
            </a:pPr>
            <a:r>
              <a:t>32 neighbors</a:t>
            </a:r>
          </a:p>
          <a:p>
            <a:pPr>
              <a:lnSpc>
                <a:spcPct val="115000"/>
              </a:lnSpc>
              <a:spcAft>
                <a:spcPts val="600"/>
              </a:spcAft>
              <a:defRPr sz="1400">
                <a:solidFill>
                  <a:srgbClr val="233248"/>
                </a:solidFill>
                <a:latin typeface="Avenir Next"/>
              </a:defRPr>
            </a:pPr>
            <a:r>
              <a:t>64 -&gt; 64 -&gt; 128</a:t>
            </a:r>
          </a:p>
        </p:txBody>
      </p:sp>
      <p:sp>
        <p:nvSpPr>
          <p:cNvPr id="10" name="Rounded Rectangle 9"/>
          <p:cNvSpPr/>
          <p:nvPr/>
        </p:nvSpPr>
        <p:spPr>
          <a:xfrm>
            <a:off x="3246120" y="1920240"/>
            <a:ext cx="219456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6120" y="1920240"/>
            <a:ext cx="219456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0712" y="2066544"/>
            <a:ext cx="1865376" cy="411480"/>
          </a:xfrm>
          <a:prstGeom prst="rect">
            <a:avLst/>
          </a:prstGeom>
          <a:noFill/>
        </p:spPr>
        <p:txBody>
          <a:bodyPr wrap="none">
            <a:spAutoFit/>
          </a:bodyPr>
          <a:lstStyle/>
          <a:p>
            <a:pPr>
              <a:defRPr b="1" sz="1800">
                <a:solidFill>
                  <a:srgbClr val="122747"/>
                </a:solidFill>
                <a:latin typeface="Avenir Next"/>
              </a:defRPr>
            </a:pPr>
            <a:r>
              <a:t>SA2</a:t>
            </a:r>
          </a:p>
        </p:txBody>
      </p:sp>
      <p:sp>
        <p:nvSpPr>
          <p:cNvPr id="13" name="TextBox 12"/>
          <p:cNvSpPr txBox="1"/>
          <p:nvPr/>
        </p:nvSpPr>
        <p:spPr>
          <a:xfrm>
            <a:off x="3410712" y="2432304"/>
            <a:ext cx="186537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128 points</a:t>
            </a:r>
          </a:p>
          <a:p>
            <a:pPr>
              <a:lnSpc>
                <a:spcPct val="115000"/>
              </a:lnSpc>
              <a:spcAft>
                <a:spcPts val="600"/>
              </a:spcAft>
              <a:defRPr sz="1400">
                <a:solidFill>
                  <a:srgbClr val="233248"/>
                </a:solidFill>
                <a:latin typeface="Avenir Next"/>
              </a:defRPr>
            </a:pPr>
            <a:r>
              <a:t>radius 0.4</a:t>
            </a:r>
          </a:p>
          <a:p>
            <a:pPr>
              <a:lnSpc>
                <a:spcPct val="115000"/>
              </a:lnSpc>
              <a:spcAft>
                <a:spcPts val="600"/>
              </a:spcAft>
              <a:defRPr sz="1400">
                <a:solidFill>
                  <a:srgbClr val="233248"/>
                </a:solidFill>
                <a:latin typeface="Avenir Next"/>
              </a:defRPr>
            </a:pPr>
            <a:r>
              <a:t>64 neighbors</a:t>
            </a:r>
          </a:p>
          <a:p>
            <a:pPr>
              <a:lnSpc>
                <a:spcPct val="115000"/>
              </a:lnSpc>
              <a:spcAft>
                <a:spcPts val="600"/>
              </a:spcAft>
              <a:defRPr sz="1400">
                <a:solidFill>
                  <a:srgbClr val="233248"/>
                </a:solidFill>
                <a:latin typeface="Avenir Next"/>
              </a:defRPr>
            </a:pPr>
            <a:r>
              <a:t>128 -&gt; 128 -&gt; 256</a:t>
            </a:r>
          </a:p>
        </p:txBody>
      </p:sp>
      <p:sp>
        <p:nvSpPr>
          <p:cNvPr id="14" name="Rounded Rectangle 13"/>
          <p:cNvSpPr/>
          <p:nvPr/>
        </p:nvSpPr>
        <p:spPr>
          <a:xfrm>
            <a:off x="5715000" y="1920240"/>
            <a:ext cx="219456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15000" y="1920240"/>
            <a:ext cx="21945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79592" y="2066544"/>
            <a:ext cx="1865376" cy="411480"/>
          </a:xfrm>
          <a:prstGeom prst="rect">
            <a:avLst/>
          </a:prstGeom>
          <a:noFill/>
        </p:spPr>
        <p:txBody>
          <a:bodyPr wrap="none">
            <a:spAutoFit/>
          </a:bodyPr>
          <a:lstStyle/>
          <a:p>
            <a:pPr>
              <a:defRPr b="1" sz="1800">
                <a:solidFill>
                  <a:srgbClr val="122747"/>
                </a:solidFill>
                <a:latin typeface="Avenir Next"/>
              </a:defRPr>
            </a:pPr>
            <a:r>
              <a:t>SA3</a:t>
            </a:r>
          </a:p>
        </p:txBody>
      </p:sp>
      <p:sp>
        <p:nvSpPr>
          <p:cNvPr id="17" name="TextBox 16"/>
          <p:cNvSpPr txBox="1"/>
          <p:nvPr/>
        </p:nvSpPr>
        <p:spPr>
          <a:xfrm>
            <a:off x="5879592" y="2432304"/>
            <a:ext cx="186537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Global grouping</a:t>
            </a:r>
          </a:p>
          <a:p>
            <a:pPr>
              <a:lnSpc>
                <a:spcPct val="115000"/>
              </a:lnSpc>
              <a:spcAft>
                <a:spcPts val="600"/>
              </a:spcAft>
              <a:defRPr sz="1400">
                <a:solidFill>
                  <a:srgbClr val="233248"/>
                </a:solidFill>
                <a:latin typeface="Avenir Next"/>
              </a:defRPr>
            </a:pPr>
            <a:r>
              <a:t>256 -&gt; 512 -&gt; 1024</a:t>
            </a:r>
          </a:p>
          <a:p>
            <a:pPr>
              <a:lnSpc>
                <a:spcPct val="115000"/>
              </a:lnSpc>
              <a:spcAft>
                <a:spcPts val="600"/>
              </a:spcAft>
              <a:defRPr sz="1400">
                <a:solidFill>
                  <a:srgbClr val="233248"/>
                </a:solidFill>
                <a:latin typeface="Avenir Next"/>
              </a:defRPr>
            </a:pPr>
            <a:r>
              <a:t>single global descriptor</a:t>
            </a:r>
          </a:p>
        </p:txBody>
      </p:sp>
      <p:sp>
        <p:nvSpPr>
          <p:cNvPr id="18" name="Rounded Rectangle 17"/>
          <p:cNvSpPr/>
          <p:nvPr/>
        </p:nvSpPr>
        <p:spPr>
          <a:xfrm>
            <a:off x="8183879" y="1920240"/>
            <a:ext cx="2286000" cy="20116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1920240"/>
            <a:ext cx="2286000" cy="7315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2066544"/>
            <a:ext cx="1956816" cy="411480"/>
          </a:xfrm>
          <a:prstGeom prst="rect">
            <a:avLst/>
          </a:prstGeom>
          <a:noFill/>
        </p:spPr>
        <p:txBody>
          <a:bodyPr wrap="none">
            <a:spAutoFit/>
          </a:bodyPr>
          <a:lstStyle/>
          <a:p>
            <a:pPr>
              <a:defRPr b="1" sz="1800">
                <a:solidFill>
                  <a:srgbClr val="122747"/>
                </a:solidFill>
                <a:latin typeface="Avenir Next"/>
              </a:defRPr>
            </a:pPr>
            <a:r>
              <a:t>Classifier</a:t>
            </a:r>
          </a:p>
        </p:txBody>
      </p:sp>
      <p:sp>
        <p:nvSpPr>
          <p:cNvPr id="21" name="TextBox 20"/>
          <p:cNvSpPr txBox="1"/>
          <p:nvPr/>
        </p:nvSpPr>
        <p:spPr>
          <a:xfrm>
            <a:off x="8348471" y="2432304"/>
            <a:ext cx="1956816" cy="13533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1024 -&gt; 512 -&gt; 256 -&gt; class</a:t>
            </a:r>
          </a:p>
          <a:p>
            <a:pPr>
              <a:lnSpc>
                <a:spcPct val="115000"/>
              </a:lnSpc>
              <a:spcAft>
                <a:spcPts val="600"/>
              </a:spcAft>
              <a:defRPr sz="1400">
                <a:solidFill>
                  <a:srgbClr val="233248"/>
                </a:solidFill>
                <a:latin typeface="Avenir Next"/>
              </a:defRPr>
            </a:pPr>
            <a:r>
              <a:t>standard PointNet++ SSG head</a:t>
            </a:r>
          </a:p>
        </p:txBody>
      </p:sp>
      <p:sp>
        <p:nvSpPr>
          <p:cNvPr id="22" name="TextBox 21"/>
          <p:cNvSpPr txBox="1"/>
          <p:nvPr/>
        </p:nvSpPr>
        <p:spPr>
          <a:xfrm>
            <a:off x="868680" y="4480560"/>
            <a:ext cx="10515600" cy="1188720"/>
          </a:xfrm>
          <a:prstGeom prst="rect">
            <a:avLst/>
          </a:prstGeom>
          <a:noFill/>
        </p:spPr>
        <p:txBody>
          <a:bodyPr wrap="square" lIns="50800" rIns="50800" anchor="t">
            <a:spAutoFit/>
          </a:bodyPr>
          <a:lstStyle/>
          <a:p>
            <a:pPr>
              <a:lnSpc>
                <a:spcPct val="118000"/>
              </a:lnSpc>
              <a:spcAft>
                <a:spcPts val="800"/>
              </a:spcAft>
              <a:defRPr sz="1800">
                <a:solidFill>
                  <a:srgbClr val="233248"/>
                </a:solidFill>
                <a:latin typeface="Avenir Next"/>
              </a:defRPr>
            </a:pPr>
            <a:r>
              <a:t>This baseline is already strong on ModelNet40, so the real target is not only to beat the original paper, but to beat a strong local retrain.</a:t>
            </a:r>
          </a:p>
        </p:txBody>
      </p:sp>
      <p:sp>
        <p:nvSpPr>
          <p:cNvPr id="23" name="Rectangle 22"/>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5" name="TextBox 24"/>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4/16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Methods</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Optimization Path</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What each model variant tried to improve</a:t>
            </a:r>
          </a:p>
        </p:txBody>
      </p:sp>
      <p:sp>
        <p:nvSpPr>
          <p:cNvPr id="6" name="Rounded Rectangle 5"/>
          <p:cNvSpPr/>
          <p:nvPr/>
        </p:nvSpPr>
        <p:spPr>
          <a:xfrm>
            <a:off x="731520" y="1828800"/>
            <a:ext cx="2651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2651760" cy="7315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2322576" cy="411480"/>
          </a:xfrm>
          <a:prstGeom prst="rect">
            <a:avLst/>
          </a:prstGeom>
          <a:noFill/>
        </p:spPr>
        <p:txBody>
          <a:bodyPr wrap="none">
            <a:spAutoFit/>
          </a:bodyPr>
          <a:lstStyle/>
          <a:p>
            <a:pPr>
              <a:defRPr b="1" sz="1800">
                <a:solidFill>
                  <a:srgbClr val="122747"/>
                </a:solidFill>
                <a:latin typeface="Avenir Next"/>
              </a:defRPr>
            </a:pPr>
            <a:r>
              <a:t>Baseline</a:t>
            </a:r>
          </a:p>
        </p:txBody>
      </p:sp>
      <p:sp>
        <p:nvSpPr>
          <p:cNvPr id="9" name="TextBox 8"/>
          <p:cNvSpPr txBox="1"/>
          <p:nvPr/>
        </p:nvSpPr>
        <p:spPr>
          <a:xfrm>
            <a:off x="896112" y="2340864"/>
            <a:ext cx="2322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Pure PointNet++ SSG.</a:t>
            </a:r>
          </a:p>
          <a:p>
            <a:pPr>
              <a:lnSpc>
                <a:spcPct val="115000"/>
              </a:lnSpc>
              <a:spcAft>
                <a:spcPts val="600"/>
              </a:spcAft>
              <a:defRPr sz="1400">
                <a:solidFill>
                  <a:srgbClr val="233248"/>
                </a:solidFill>
                <a:latin typeface="Avenir Next"/>
              </a:defRPr>
            </a:pPr>
            <a:r>
              <a:t>Strong local hierarchy.</a:t>
            </a:r>
          </a:p>
          <a:p>
            <a:pPr>
              <a:lnSpc>
                <a:spcPct val="115000"/>
              </a:lnSpc>
              <a:spcAft>
                <a:spcPts val="600"/>
              </a:spcAft>
              <a:defRPr sz="1400">
                <a:solidFill>
                  <a:srgbClr val="233248"/>
                </a:solidFill>
                <a:latin typeface="Avenir Next"/>
              </a:defRPr>
            </a:pPr>
            <a:r>
              <a:t>Reference model for all later comparisons.</a:t>
            </a:r>
          </a:p>
        </p:txBody>
      </p:sp>
      <p:sp>
        <p:nvSpPr>
          <p:cNvPr id="10" name="Rounded Rectangle 9"/>
          <p:cNvSpPr/>
          <p:nvPr/>
        </p:nvSpPr>
        <p:spPr>
          <a:xfrm>
            <a:off x="3611880" y="1828800"/>
            <a:ext cx="2651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1975104"/>
            <a:ext cx="2322576" cy="411480"/>
          </a:xfrm>
          <a:prstGeom prst="rect">
            <a:avLst/>
          </a:prstGeom>
          <a:noFill/>
        </p:spPr>
        <p:txBody>
          <a:bodyPr wrap="none">
            <a:spAutoFit/>
          </a:bodyPr>
          <a:lstStyle/>
          <a:p>
            <a:pPr>
              <a:defRPr b="1" sz="1800">
                <a:solidFill>
                  <a:srgbClr val="122747"/>
                </a:solidFill>
                <a:latin typeface="Avenir Next"/>
              </a:defRPr>
            </a:pPr>
            <a:r>
              <a:t>SE Version</a:t>
            </a:r>
          </a:p>
        </p:txBody>
      </p:sp>
      <p:sp>
        <p:nvSpPr>
          <p:cNvPr id="13" name="TextBox 12"/>
          <p:cNvSpPr txBox="1"/>
          <p:nvPr/>
        </p:nvSpPr>
        <p:spPr>
          <a:xfrm>
            <a:off x="3776472" y="2340864"/>
            <a:ext cx="2322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Add channel attention after SA1 and SA2.</a:t>
            </a:r>
          </a:p>
          <a:p>
            <a:pPr>
              <a:lnSpc>
                <a:spcPct val="115000"/>
              </a:lnSpc>
              <a:spcAft>
                <a:spcPts val="600"/>
              </a:spcAft>
              <a:defRPr sz="1400">
                <a:solidFill>
                  <a:srgbClr val="233248"/>
                </a:solidFill>
                <a:latin typeface="Avenir Next"/>
              </a:defRPr>
            </a:pPr>
            <a:r>
              <a:t>Deepen the classifier.</a:t>
            </a:r>
          </a:p>
          <a:p>
            <a:pPr>
              <a:lnSpc>
                <a:spcPct val="115000"/>
              </a:lnSpc>
              <a:spcAft>
                <a:spcPts val="600"/>
              </a:spcAft>
              <a:defRPr sz="1400">
                <a:solidFill>
                  <a:srgbClr val="233248"/>
                </a:solidFill>
                <a:latin typeface="Avenir Next"/>
              </a:defRPr>
            </a:pPr>
            <a:r>
              <a:t>Goal: better channel discrimination and class balance.</a:t>
            </a:r>
          </a:p>
        </p:txBody>
      </p:sp>
      <p:sp>
        <p:nvSpPr>
          <p:cNvPr id="14" name="Rounded Rectangle 13"/>
          <p:cNvSpPr/>
          <p:nvPr/>
        </p:nvSpPr>
        <p:spPr>
          <a:xfrm>
            <a:off x="6492240" y="1828800"/>
            <a:ext cx="2651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828800"/>
            <a:ext cx="265176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1975104"/>
            <a:ext cx="2322576" cy="411480"/>
          </a:xfrm>
          <a:prstGeom prst="rect">
            <a:avLst/>
          </a:prstGeom>
          <a:noFill/>
        </p:spPr>
        <p:txBody>
          <a:bodyPr wrap="none">
            <a:spAutoFit/>
          </a:bodyPr>
          <a:lstStyle/>
          <a:p>
            <a:pPr>
              <a:defRPr b="1" sz="1800">
                <a:solidFill>
                  <a:srgbClr val="122747"/>
                </a:solidFill>
                <a:latin typeface="Avenir Next"/>
              </a:defRPr>
            </a:pPr>
            <a:r>
              <a:t>Attention v1</a:t>
            </a:r>
          </a:p>
        </p:txBody>
      </p:sp>
      <p:sp>
        <p:nvSpPr>
          <p:cNvPr id="17" name="TextBox 16"/>
          <p:cNvSpPr txBox="1"/>
          <p:nvPr/>
        </p:nvSpPr>
        <p:spPr>
          <a:xfrm>
            <a:off x="6656832" y="2340864"/>
            <a:ext cx="2322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Replace max pooling with local attention pooling.</a:t>
            </a:r>
          </a:p>
          <a:p>
            <a:pPr>
              <a:lnSpc>
                <a:spcPct val="115000"/>
              </a:lnSpc>
              <a:spcAft>
                <a:spcPts val="600"/>
              </a:spcAft>
              <a:defRPr sz="1400">
                <a:solidFill>
                  <a:srgbClr val="233248"/>
                </a:solidFill>
                <a:latin typeface="Avenir Next"/>
              </a:defRPr>
            </a:pPr>
            <a:r>
              <a:t>Fuse l1, l2, l3 with cross-level attention.</a:t>
            </a:r>
          </a:p>
          <a:p>
            <a:pPr>
              <a:lnSpc>
                <a:spcPct val="115000"/>
              </a:lnSpc>
              <a:spcAft>
                <a:spcPts val="600"/>
              </a:spcAft>
              <a:defRPr sz="1400">
                <a:solidFill>
                  <a:srgbClr val="233248"/>
                </a:solidFill>
                <a:latin typeface="Avenir Next"/>
              </a:defRPr>
            </a:pPr>
            <a:r>
              <a:t>Goal: richer local weighting and multi-scale fusion.</a:t>
            </a:r>
          </a:p>
        </p:txBody>
      </p:sp>
      <p:sp>
        <p:nvSpPr>
          <p:cNvPr id="18" name="Rounded Rectangle 17"/>
          <p:cNvSpPr/>
          <p:nvPr/>
        </p:nvSpPr>
        <p:spPr>
          <a:xfrm>
            <a:off x="9372600" y="1828800"/>
            <a:ext cx="205740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72600" y="1828800"/>
            <a:ext cx="205740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37192" y="1975104"/>
            <a:ext cx="1728216" cy="411480"/>
          </a:xfrm>
          <a:prstGeom prst="rect">
            <a:avLst/>
          </a:prstGeom>
          <a:noFill/>
        </p:spPr>
        <p:txBody>
          <a:bodyPr wrap="none">
            <a:spAutoFit/>
          </a:bodyPr>
          <a:lstStyle/>
          <a:p>
            <a:pPr>
              <a:defRPr b="1" sz="1800">
                <a:solidFill>
                  <a:srgbClr val="122747"/>
                </a:solidFill>
                <a:latin typeface="Avenir Next"/>
              </a:defRPr>
            </a:pPr>
            <a:r>
              <a:t>Attention v2</a:t>
            </a:r>
          </a:p>
        </p:txBody>
      </p:sp>
      <p:sp>
        <p:nvSpPr>
          <p:cNvPr id="21" name="TextBox 20"/>
          <p:cNvSpPr txBox="1"/>
          <p:nvPr/>
        </p:nvSpPr>
        <p:spPr>
          <a:xfrm>
            <a:off x="9537192" y="2340864"/>
            <a:ext cx="172821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Masked local attention.</a:t>
            </a:r>
          </a:p>
          <a:p>
            <a:pPr>
              <a:lnSpc>
                <a:spcPct val="115000"/>
              </a:lnSpc>
              <a:spcAft>
                <a:spcPts val="600"/>
              </a:spcAft>
              <a:defRPr sz="1400">
                <a:solidFill>
                  <a:srgbClr val="233248"/>
                </a:solidFill>
                <a:latin typeface="Avenir Next"/>
              </a:defRPr>
            </a:pPr>
            <a:r>
              <a:t>Hybrid attention + max pooling.</a:t>
            </a:r>
          </a:p>
          <a:p>
            <a:pPr>
              <a:lnSpc>
                <a:spcPct val="115000"/>
              </a:lnSpc>
              <a:spcAft>
                <a:spcPts val="600"/>
              </a:spcAft>
              <a:defRPr sz="1400">
                <a:solidFill>
                  <a:srgbClr val="233248"/>
                </a:solidFill>
                <a:latin typeface="Avenir Next"/>
              </a:defRPr>
            </a:pPr>
            <a:r>
              <a:t>CLS-token fusion plus global residual.</a:t>
            </a:r>
          </a:p>
          <a:p>
            <a:pPr>
              <a:lnSpc>
                <a:spcPct val="115000"/>
              </a:lnSpc>
              <a:spcAft>
                <a:spcPts val="600"/>
              </a:spcAft>
              <a:defRPr sz="1400">
                <a:solidFill>
                  <a:srgbClr val="233248"/>
                </a:solidFill>
                <a:latin typeface="Avenir Next"/>
              </a:defRPr>
            </a:pPr>
            <a:r>
              <a:t>Stronger nonlinear classifier.</a:t>
            </a:r>
          </a:p>
        </p:txBody>
      </p:sp>
      <p:sp>
        <p:nvSpPr>
          <p:cNvPr id="22" name="Rectangle 21"/>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4" name="TextBox 23"/>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5/16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SE</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Why SE Was Introduced</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Channel recalibration plus a stronger head</a:t>
            </a:r>
          </a:p>
        </p:txBody>
      </p:sp>
      <p:sp>
        <p:nvSpPr>
          <p:cNvPr id="6" name="TextBox 5"/>
          <p:cNvSpPr txBox="1"/>
          <p:nvPr/>
        </p:nvSpPr>
        <p:spPr>
          <a:xfrm>
            <a:off x="731520" y="1828800"/>
            <a:ext cx="4754880" cy="2743200"/>
          </a:xfrm>
          <a:prstGeom prst="rect">
            <a:avLst/>
          </a:prstGeom>
          <a:noFill/>
        </p:spPr>
        <p:txBody>
          <a:bodyPr wrap="square" lIns="50800" rIns="50800" anchor="t">
            <a:spAutoFit/>
          </a:bodyPr>
          <a:lstStyle/>
          <a:p>
            <a:pPr>
              <a:lnSpc>
                <a:spcPct val="118000"/>
              </a:lnSpc>
              <a:spcAft>
                <a:spcPts val="800"/>
              </a:spcAft>
              <a:defRPr sz="1800">
                <a:solidFill>
                  <a:srgbClr val="233248"/>
                </a:solidFill>
                <a:latin typeface="Avenir Next"/>
              </a:defRPr>
            </a:pPr>
            <a:r>
              <a:t>SE stands for Squeeze-and-Excitation. The block globally averages each feature channel, learns a channel importance vector, and rescales the original features.</a:t>
            </a:r>
          </a:p>
          <a:p>
            <a:pPr>
              <a:lnSpc>
                <a:spcPct val="118000"/>
              </a:lnSpc>
              <a:spcAft>
                <a:spcPts val="800"/>
              </a:spcAft>
              <a:defRPr sz="1800">
                <a:solidFill>
                  <a:srgbClr val="233248"/>
                </a:solidFill>
                <a:latin typeface="Avenir Next"/>
              </a:defRPr>
            </a:pPr>
            <a:r>
              <a:t>The intuition is simple: not every feature channel contributes equally to classification, so the network should emphasize informative channels and suppress weaker ones.</a:t>
            </a:r>
          </a:p>
        </p:txBody>
      </p:sp>
      <p:sp>
        <p:nvSpPr>
          <p:cNvPr id="7" name="Rounded Rectangle 6"/>
          <p:cNvSpPr/>
          <p:nvPr/>
        </p:nvSpPr>
        <p:spPr>
          <a:xfrm>
            <a:off x="6400800" y="1828800"/>
            <a:ext cx="205740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5392" y="1965960"/>
            <a:ext cx="1728216" cy="475488"/>
          </a:xfrm>
          <a:prstGeom prst="rect">
            <a:avLst/>
          </a:prstGeom>
          <a:noFill/>
        </p:spPr>
        <p:txBody>
          <a:bodyPr wrap="none">
            <a:spAutoFit/>
          </a:bodyPr>
          <a:lstStyle/>
          <a:p>
            <a:pPr>
              <a:defRPr b="1" sz="2800">
                <a:solidFill>
                  <a:srgbClr val="0078D4"/>
                </a:solidFill>
                <a:latin typeface="Avenir Next"/>
              </a:defRPr>
            </a:pPr>
            <a:r>
              <a:t>91.976%</a:t>
            </a:r>
          </a:p>
        </p:txBody>
      </p:sp>
      <p:sp>
        <p:nvSpPr>
          <p:cNvPr id="9" name="TextBox 8"/>
          <p:cNvSpPr txBox="1"/>
          <p:nvPr/>
        </p:nvSpPr>
        <p:spPr>
          <a:xfrm>
            <a:off x="6565392" y="2487168"/>
            <a:ext cx="1728216" cy="347472"/>
          </a:xfrm>
          <a:prstGeom prst="rect">
            <a:avLst/>
          </a:prstGeom>
          <a:noFill/>
        </p:spPr>
        <p:txBody>
          <a:bodyPr wrap="none">
            <a:spAutoFit/>
          </a:bodyPr>
          <a:lstStyle/>
          <a:p>
            <a:pPr>
              <a:defRPr sz="1300">
                <a:solidFill>
                  <a:srgbClr val="233248"/>
                </a:solidFill>
                <a:latin typeface="Avenir Next"/>
              </a:defRPr>
            </a:pPr>
            <a:r>
              <a:t>SE best instance acc</a:t>
            </a:r>
          </a:p>
        </p:txBody>
      </p:sp>
      <p:sp>
        <p:nvSpPr>
          <p:cNvPr id="10" name="Rounded Rectangle 9"/>
          <p:cNvSpPr/>
          <p:nvPr/>
        </p:nvSpPr>
        <p:spPr>
          <a:xfrm>
            <a:off x="8686800" y="1828800"/>
            <a:ext cx="2057400" cy="13258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51392" y="1965960"/>
            <a:ext cx="1728216" cy="475488"/>
          </a:xfrm>
          <a:prstGeom prst="rect">
            <a:avLst/>
          </a:prstGeom>
          <a:noFill/>
        </p:spPr>
        <p:txBody>
          <a:bodyPr wrap="none">
            <a:spAutoFit/>
          </a:bodyPr>
          <a:lstStyle/>
          <a:p>
            <a:pPr>
              <a:defRPr b="1" sz="2800">
                <a:solidFill>
                  <a:srgbClr val="198754"/>
                </a:solidFill>
                <a:latin typeface="Avenir Next"/>
              </a:defRPr>
            </a:pPr>
            <a:r>
              <a:t>89.626%</a:t>
            </a:r>
          </a:p>
        </p:txBody>
      </p:sp>
      <p:sp>
        <p:nvSpPr>
          <p:cNvPr id="12" name="TextBox 11"/>
          <p:cNvSpPr txBox="1"/>
          <p:nvPr/>
        </p:nvSpPr>
        <p:spPr>
          <a:xfrm>
            <a:off x="8851392" y="2487168"/>
            <a:ext cx="1728216" cy="347472"/>
          </a:xfrm>
          <a:prstGeom prst="rect">
            <a:avLst/>
          </a:prstGeom>
          <a:noFill/>
        </p:spPr>
        <p:txBody>
          <a:bodyPr wrap="none">
            <a:spAutoFit/>
          </a:bodyPr>
          <a:lstStyle/>
          <a:p>
            <a:pPr>
              <a:defRPr sz="1300">
                <a:solidFill>
                  <a:srgbClr val="233248"/>
                </a:solidFill>
                <a:latin typeface="Avenir Next"/>
              </a:defRPr>
            </a:pPr>
            <a:r>
              <a:t>SE best class acc</a:t>
            </a:r>
          </a:p>
        </p:txBody>
      </p:sp>
      <p:sp>
        <p:nvSpPr>
          <p:cNvPr id="13" name="TextBox 12"/>
          <p:cNvSpPr txBox="1"/>
          <p:nvPr/>
        </p:nvSpPr>
        <p:spPr>
          <a:xfrm>
            <a:off x="6355080" y="3520440"/>
            <a:ext cx="4572000" cy="118872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Result: SE improved class accuracy over baseline, but it did not surpass baseline on instance accuracy.</a:t>
            </a:r>
          </a:p>
        </p:txBody>
      </p:sp>
      <p:sp>
        <p:nvSpPr>
          <p:cNvPr id="14" name="Rectangle 13"/>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6" name="TextBox 15"/>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6/16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Diagnosis</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Why Attention v1 Failed</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first attention design was conceptually interesting but technically flawed</a:t>
            </a:r>
          </a:p>
        </p:txBody>
      </p:sp>
      <p:sp>
        <p:nvSpPr>
          <p:cNvPr id="6" name="Rounded Rectangle 5"/>
          <p:cNvSpPr/>
          <p:nvPr/>
        </p:nvSpPr>
        <p:spPr>
          <a:xfrm>
            <a:off x="731520" y="1828800"/>
            <a:ext cx="342900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342900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3099816" cy="411480"/>
          </a:xfrm>
          <a:prstGeom prst="rect">
            <a:avLst/>
          </a:prstGeom>
          <a:noFill/>
        </p:spPr>
        <p:txBody>
          <a:bodyPr wrap="none">
            <a:spAutoFit/>
          </a:bodyPr>
          <a:lstStyle/>
          <a:p>
            <a:pPr>
              <a:defRPr b="1" sz="1800">
                <a:solidFill>
                  <a:srgbClr val="122747"/>
                </a:solidFill>
                <a:latin typeface="Avenir Next"/>
              </a:defRPr>
            </a:pPr>
            <a:r>
              <a:t>Problem 1: invalid local attention</a:t>
            </a:r>
          </a:p>
        </p:txBody>
      </p:sp>
      <p:sp>
        <p:nvSpPr>
          <p:cNvPr id="9" name="TextBox 8"/>
          <p:cNvSpPr txBox="1"/>
          <p:nvPr/>
        </p:nvSpPr>
        <p:spPr>
          <a:xfrm>
            <a:off x="896112" y="2340864"/>
            <a:ext cx="309981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PointNet++ radius grouping duplicates the first valid neighbor when padding.</a:t>
            </a:r>
          </a:p>
          <a:p>
            <a:pPr>
              <a:lnSpc>
                <a:spcPct val="115000"/>
              </a:lnSpc>
              <a:spcAft>
                <a:spcPts val="600"/>
              </a:spcAft>
              <a:defRPr sz="1400">
                <a:solidFill>
                  <a:srgbClr val="233248"/>
                </a:solidFill>
                <a:latin typeface="Avenir Next"/>
              </a:defRPr>
            </a:pPr>
            <a:r>
              <a:t>This is safe for max pooling.</a:t>
            </a:r>
          </a:p>
          <a:p>
            <a:pPr>
              <a:lnSpc>
                <a:spcPct val="115000"/>
              </a:lnSpc>
              <a:spcAft>
                <a:spcPts val="600"/>
              </a:spcAft>
              <a:defRPr sz="1400">
                <a:solidFill>
                  <a:srgbClr val="233248"/>
                </a:solidFill>
                <a:latin typeface="Avenir Next"/>
              </a:defRPr>
            </a:pPr>
            <a:r>
              <a:t>It is not safe for softmax attention because fake duplicates collect probability mass.</a:t>
            </a:r>
          </a:p>
        </p:txBody>
      </p:sp>
      <p:sp>
        <p:nvSpPr>
          <p:cNvPr id="10" name="Rounded Rectangle 9"/>
          <p:cNvSpPr/>
          <p:nvPr/>
        </p:nvSpPr>
        <p:spPr>
          <a:xfrm>
            <a:off x="4389120" y="1828800"/>
            <a:ext cx="342900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828800"/>
            <a:ext cx="3429000" cy="73152"/>
          </a:xfrm>
          <a:prstGeom prst="rect">
            <a:avLst/>
          </a:prstGeom>
          <a:solidFill>
            <a:srgbClr val="D79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75104"/>
            <a:ext cx="3099816" cy="411480"/>
          </a:xfrm>
          <a:prstGeom prst="rect">
            <a:avLst/>
          </a:prstGeom>
          <a:noFill/>
        </p:spPr>
        <p:txBody>
          <a:bodyPr wrap="none">
            <a:spAutoFit/>
          </a:bodyPr>
          <a:lstStyle/>
          <a:p>
            <a:pPr>
              <a:defRPr b="1" sz="1800">
                <a:solidFill>
                  <a:srgbClr val="122747"/>
                </a:solidFill>
                <a:latin typeface="Avenir Next"/>
              </a:defRPr>
            </a:pPr>
            <a:r>
              <a:t>Problem 2: over-compressed fusion</a:t>
            </a:r>
          </a:p>
        </p:txBody>
      </p:sp>
      <p:sp>
        <p:nvSpPr>
          <p:cNvPr id="13" name="TextBox 12"/>
          <p:cNvSpPr txBox="1"/>
          <p:nvPr/>
        </p:nvSpPr>
        <p:spPr>
          <a:xfrm>
            <a:off x="4553712" y="2340864"/>
            <a:ext cx="309981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Each hierarchy level was reduced to a single mean-pooled token.</a:t>
            </a:r>
          </a:p>
          <a:p>
            <a:pPr>
              <a:lnSpc>
                <a:spcPct val="115000"/>
              </a:lnSpc>
              <a:spcAft>
                <a:spcPts val="600"/>
              </a:spcAft>
              <a:defRPr sz="1400">
                <a:solidFill>
                  <a:srgbClr val="233248"/>
                </a:solidFill>
                <a:latin typeface="Avenir Next"/>
              </a:defRPr>
            </a:pPr>
            <a:r>
              <a:t>The attended tokens were then averaged again.</a:t>
            </a:r>
          </a:p>
          <a:p>
            <a:pPr>
              <a:lnSpc>
                <a:spcPct val="115000"/>
              </a:lnSpc>
              <a:spcAft>
                <a:spcPts val="600"/>
              </a:spcAft>
              <a:defRPr sz="1400">
                <a:solidFill>
                  <a:srgbClr val="233248"/>
                </a:solidFill>
                <a:latin typeface="Avenir Next"/>
              </a:defRPr>
            </a:pPr>
            <a:r>
              <a:t>Too much structure was discarded before attention could help.</a:t>
            </a:r>
          </a:p>
        </p:txBody>
      </p:sp>
      <p:sp>
        <p:nvSpPr>
          <p:cNvPr id="14" name="Rounded Rectangle 13"/>
          <p:cNvSpPr/>
          <p:nvPr/>
        </p:nvSpPr>
        <p:spPr>
          <a:xfrm>
            <a:off x="8046720" y="1828800"/>
            <a:ext cx="342900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342900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975104"/>
            <a:ext cx="3099816" cy="411480"/>
          </a:xfrm>
          <a:prstGeom prst="rect">
            <a:avLst/>
          </a:prstGeom>
          <a:noFill/>
        </p:spPr>
        <p:txBody>
          <a:bodyPr wrap="none">
            <a:spAutoFit/>
          </a:bodyPr>
          <a:lstStyle/>
          <a:p>
            <a:pPr>
              <a:defRPr b="1" sz="1800">
                <a:solidFill>
                  <a:srgbClr val="122747"/>
                </a:solidFill>
                <a:latin typeface="Avenir Next"/>
              </a:defRPr>
            </a:pPr>
            <a:r>
              <a:t>Problem 3: weak classifier</a:t>
            </a:r>
          </a:p>
        </p:txBody>
      </p:sp>
      <p:sp>
        <p:nvSpPr>
          <p:cNvPr id="17" name="TextBox 16"/>
          <p:cNvSpPr txBox="1"/>
          <p:nvPr/>
        </p:nvSpPr>
        <p:spPr>
          <a:xfrm>
            <a:off x="8211312" y="2340864"/>
            <a:ext cx="309981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The post-fusion classifier behaved too close to a shallow linear head.</a:t>
            </a:r>
          </a:p>
          <a:p>
            <a:pPr>
              <a:lnSpc>
                <a:spcPct val="115000"/>
              </a:lnSpc>
              <a:spcAft>
                <a:spcPts val="600"/>
              </a:spcAft>
              <a:defRPr sz="1400">
                <a:solidFill>
                  <a:srgbClr val="233248"/>
                </a:solidFill>
                <a:latin typeface="Avenir Next"/>
              </a:defRPr>
            </a:pPr>
            <a:r>
              <a:t>There was not enough nonlinear capacity to exploit the fused representation.</a:t>
            </a:r>
          </a:p>
        </p:txBody>
      </p:sp>
      <p:sp>
        <p:nvSpPr>
          <p:cNvPr id="18" name="Rounded Rectangle 17"/>
          <p:cNvSpPr/>
          <p:nvPr/>
        </p:nvSpPr>
        <p:spPr>
          <a:xfrm>
            <a:off x="4389120" y="5212080"/>
            <a:ext cx="3429000" cy="91440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53712" y="5349240"/>
            <a:ext cx="3099816" cy="475488"/>
          </a:xfrm>
          <a:prstGeom prst="rect">
            <a:avLst/>
          </a:prstGeom>
          <a:noFill/>
        </p:spPr>
        <p:txBody>
          <a:bodyPr wrap="none">
            <a:spAutoFit/>
          </a:bodyPr>
          <a:lstStyle/>
          <a:p>
            <a:pPr>
              <a:defRPr b="1" sz="2800">
                <a:solidFill>
                  <a:srgbClr val="C0392B"/>
                </a:solidFill>
                <a:latin typeface="Avenir Next"/>
              </a:defRPr>
            </a:pPr>
            <a:r>
              <a:t>91.392% / 86.231%</a:t>
            </a:r>
          </a:p>
        </p:txBody>
      </p:sp>
      <p:sp>
        <p:nvSpPr>
          <p:cNvPr id="20" name="TextBox 19"/>
          <p:cNvSpPr txBox="1"/>
          <p:nvPr/>
        </p:nvSpPr>
        <p:spPr>
          <a:xfrm>
            <a:off x="4553712" y="5870448"/>
            <a:ext cx="3099816" cy="347472"/>
          </a:xfrm>
          <a:prstGeom prst="rect">
            <a:avLst/>
          </a:prstGeom>
          <a:noFill/>
        </p:spPr>
        <p:txBody>
          <a:bodyPr wrap="none">
            <a:spAutoFit/>
          </a:bodyPr>
          <a:lstStyle/>
          <a:p>
            <a:pPr>
              <a:defRPr sz="1300">
                <a:solidFill>
                  <a:srgbClr val="233248"/>
                </a:solidFill>
                <a:latin typeface="Avenir Next"/>
              </a:defRPr>
            </a:pPr>
            <a:r>
              <a:t>Best ModelNet40 result of attention v1</a:t>
            </a:r>
          </a:p>
        </p:txBody>
      </p:sp>
      <p:sp>
        <p:nvSpPr>
          <p:cNvPr id="21" name="Rectangle 20"/>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3" name="TextBox 22"/>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7/16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attn-v2</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Attention v2 Design</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corrected architecture, not just a larger one</a:t>
            </a:r>
          </a:p>
        </p:txBody>
      </p:sp>
      <p:sp>
        <p:nvSpPr>
          <p:cNvPr id="6" name="Rounded Rectangle 5"/>
          <p:cNvSpPr/>
          <p:nvPr/>
        </p:nvSpPr>
        <p:spPr>
          <a:xfrm>
            <a:off x="731520" y="1828800"/>
            <a:ext cx="265176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2322576" cy="411480"/>
          </a:xfrm>
          <a:prstGeom prst="rect">
            <a:avLst/>
          </a:prstGeom>
          <a:noFill/>
        </p:spPr>
        <p:txBody>
          <a:bodyPr wrap="none">
            <a:spAutoFit/>
          </a:bodyPr>
          <a:lstStyle/>
          <a:p>
            <a:pPr>
              <a:defRPr b="1" sz="1800">
                <a:solidFill>
                  <a:srgbClr val="122747"/>
                </a:solidFill>
                <a:latin typeface="Avenir Next"/>
              </a:defRPr>
            </a:pPr>
            <a:r>
              <a:t>Masked local attention</a:t>
            </a:r>
          </a:p>
        </p:txBody>
      </p:sp>
      <p:sp>
        <p:nvSpPr>
          <p:cNvPr id="9" name="TextBox 8"/>
          <p:cNvSpPr txBox="1"/>
          <p:nvPr/>
        </p:nvSpPr>
        <p:spPr>
          <a:xfrm>
            <a:off x="896112" y="2340864"/>
            <a:ext cx="232257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Return explicit validity masks from grouping.</a:t>
            </a:r>
          </a:p>
          <a:p>
            <a:pPr>
              <a:lnSpc>
                <a:spcPct val="115000"/>
              </a:lnSpc>
              <a:spcAft>
                <a:spcPts val="600"/>
              </a:spcAft>
              <a:defRPr sz="1400">
                <a:solidFill>
                  <a:srgbClr val="233248"/>
                </a:solidFill>
                <a:latin typeface="Avenir Next"/>
              </a:defRPr>
            </a:pPr>
            <a:r>
              <a:t>Normalize softmax only over valid neighbors.</a:t>
            </a:r>
          </a:p>
        </p:txBody>
      </p:sp>
      <p:sp>
        <p:nvSpPr>
          <p:cNvPr id="10" name="Rounded Rectangle 9"/>
          <p:cNvSpPr/>
          <p:nvPr/>
        </p:nvSpPr>
        <p:spPr>
          <a:xfrm>
            <a:off x="3611880" y="1828800"/>
            <a:ext cx="265176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265176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1975104"/>
            <a:ext cx="2322576" cy="411480"/>
          </a:xfrm>
          <a:prstGeom prst="rect">
            <a:avLst/>
          </a:prstGeom>
          <a:noFill/>
        </p:spPr>
        <p:txBody>
          <a:bodyPr wrap="none">
            <a:spAutoFit/>
          </a:bodyPr>
          <a:lstStyle/>
          <a:p>
            <a:pPr>
              <a:defRPr b="1" sz="1800">
                <a:solidFill>
                  <a:srgbClr val="122747"/>
                </a:solidFill>
                <a:latin typeface="Avenir Next"/>
              </a:defRPr>
            </a:pPr>
            <a:r>
              <a:t>Hybrid local pooling</a:t>
            </a:r>
          </a:p>
        </p:txBody>
      </p:sp>
      <p:sp>
        <p:nvSpPr>
          <p:cNvPr id="13" name="TextBox 12"/>
          <p:cNvSpPr txBox="1"/>
          <p:nvPr/>
        </p:nvSpPr>
        <p:spPr>
          <a:xfrm>
            <a:off x="3776472" y="2340864"/>
            <a:ext cx="232257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Fuse attention pooling with max pooling.</a:t>
            </a:r>
          </a:p>
          <a:p>
            <a:pPr>
              <a:lnSpc>
                <a:spcPct val="115000"/>
              </a:lnSpc>
              <a:spcAft>
                <a:spcPts val="600"/>
              </a:spcAft>
              <a:defRPr sz="1400">
                <a:solidFill>
                  <a:srgbClr val="233248"/>
                </a:solidFill>
                <a:latin typeface="Avenir Next"/>
              </a:defRPr>
            </a:pPr>
            <a:r>
              <a:t>Keep PointNet++ robustness while adding learnable weighting.</a:t>
            </a:r>
          </a:p>
        </p:txBody>
      </p:sp>
      <p:sp>
        <p:nvSpPr>
          <p:cNvPr id="14" name="Rounded Rectangle 13"/>
          <p:cNvSpPr/>
          <p:nvPr/>
        </p:nvSpPr>
        <p:spPr>
          <a:xfrm>
            <a:off x="6492240" y="1828800"/>
            <a:ext cx="265176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828800"/>
            <a:ext cx="265176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1975104"/>
            <a:ext cx="2322576" cy="411480"/>
          </a:xfrm>
          <a:prstGeom prst="rect">
            <a:avLst/>
          </a:prstGeom>
          <a:noFill/>
        </p:spPr>
        <p:txBody>
          <a:bodyPr wrap="none">
            <a:spAutoFit/>
          </a:bodyPr>
          <a:lstStyle/>
          <a:p>
            <a:pPr>
              <a:defRPr b="1" sz="1800">
                <a:solidFill>
                  <a:srgbClr val="122747"/>
                </a:solidFill>
                <a:latin typeface="Avenir Next"/>
              </a:defRPr>
            </a:pPr>
            <a:r>
              <a:t>Cross-level fusion</a:t>
            </a:r>
          </a:p>
        </p:txBody>
      </p:sp>
      <p:sp>
        <p:nvSpPr>
          <p:cNvPr id="17" name="TextBox 16"/>
          <p:cNvSpPr txBox="1"/>
          <p:nvPr/>
        </p:nvSpPr>
        <p:spPr>
          <a:xfrm>
            <a:off x="6656832" y="2340864"/>
            <a:ext cx="232257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Use mean and max summaries.</a:t>
            </a:r>
          </a:p>
          <a:p>
            <a:pPr>
              <a:lnSpc>
                <a:spcPct val="115000"/>
              </a:lnSpc>
              <a:spcAft>
                <a:spcPts val="600"/>
              </a:spcAft>
              <a:defRPr sz="1400">
                <a:solidFill>
                  <a:srgbClr val="233248"/>
                </a:solidFill>
                <a:latin typeface="Avenir Next"/>
              </a:defRPr>
            </a:pPr>
            <a:r>
              <a:t>Add a CLS token and a global residual path from l3.</a:t>
            </a:r>
          </a:p>
        </p:txBody>
      </p:sp>
      <p:sp>
        <p:nvSpPr>
          <p:cNvPr id="18" name="Rounded Rectangle 17"/>
          <p:cNvSpPr/>
          <p:nvPr/>
        </p:nvSpPr>
        <p:spPr>
          <a:xfrm>
            <a:off x="9372600" y="1828800"/>
            <a:ext cx="2057400" cy="292608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72600" y="1828800"/>
            <a:ext cx="2057400" cy="7315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37192" y="1975104"/>
            <a:ext cx="1728216" cy="411480"/>
          </a:xfrm>
          <a:prstGeom prst="rect">
            <a:avLst/>
          </a:prstGeom>
          <a:noFill/>
        </p:spPr>
        <p:txBody>
          <a:bodyPr wrap="none">
            <a:spAutoFit/>
          </a:bodyPr>
          <a:lstStyle/>
          <a:p>
            <a:pPr>
              <a:defRPr b="1" sz="1800">
                <a:solidFill>
                  <a:srgbClr val="122747"/>
                </a:solidFill>
                <a:latin typeface="Avenir Next"/>
              </a:defRPr>
            </a:pPr>
            <a:r>
              <a:t>Classifier</a:t>
            </a:r>
          </a:p>
        </p:txBody>
      </p:sp>
      <p:sp>
        <p:nvSpPr>
          <p:cNvPr id="21" name="TextBox 20"/>
          <p:cNvSpPr txBox="1"/>
          <p:nvPr/>
        </p:nvSpPr>
        <p:spPr>
          <a:xfrm>
            <a:off x="9537192" y="2340864"/>
            <a:ext cx="1728216" cy="226771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Wider nonlinear head.</a:t>
            </a:r>
          </a:p>
          <a:p>
            <a:pPr>
              <a:lnSpc>
                <a:spcPct val="115000"/>
              </a:lnSpc>
              <a:spcAft>
                <a:spcPts val="600"/>
              </a:spcAft>
              <a:defRPr sz="1400">
                <a:solidFill>
                  <a:srgbClr val="233248"/>
                </a:solidFill>
                <a:latin typeface="Avenir Next"/>
              </a:defRPr>
            </a:pPr>
            <a:r>
              <a:t>512 -&gt; 256 -&gt; 128 -&gt; class.</a:t>
            </a:r>
          </a:p>
        </p:txBody>
      </p:sp>
      <p:sp>
        <p:nvSpPr>
          <p:cNvPr id="22" name="TextBox 21"/>
          <p:cNvSpPr txBox="1"/>
          <p:nvPr/>
        </p:nvSpPr>
        <p:spPr>
          <a:xfrm>
            <a:off x="822960" y="5074920"/>
            <a:ext cx="10607040" cy="73152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Result: attention v2 recovered most of the performance lost by attention v1 and strongly improved class balance.</a:t>
            </a:r>
          </a:p>
        </p:txBody>
      </p:sp>
      <p:sp>
        <p:nvSpPr>
          <p:cNvPr id="23" name="Rectangle 22"/>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5" name="TextBox 24"/>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8/16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Pipeline</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Engineering and Logging Infrastructure</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project became reproducible, not just runnable</a:t>
            </a:r>
          </a:p>
        </p:txBody>
      </p:sp>
      <p:sp>
        <p:nvSpPr>
          <p:cNvPr id="6" name="Rounded Rectangle 5"/>
          <p:cNvSpPr/>
          <p:nvPr/>
        </p:nvSpPr>
        <p:spPr>
          <a:xfrm>
            <a:off x="731520" y="1828800"/>
            <a:ext cx="352044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3191256" cy="411480"/>
          </a:xfrm>
          <a:prstGeom prst="rect">
            <a:avLst/>
          </a:prstGeom>
          <a:noFill/>
        </p:spPr>
        <p:txBody>
          <a:bodyPr wrap="none">
            <a:spAutoFit/>
          </a:bodyPr>
          <a:lstStyle/>
          <a:p>
            <a:pPr>
              <a:defRPr b="1" sz="1800">
                <a:solidFill>
                  <a:srgbClr val="122747"/>
                </a:solidFill>
                <a:latin typeface="Avenir Next"/>
              </a:defRPr>
            </a:pPr>
            <a:r>
              <a:t>Platform support</a:t>
            </a:r>
          </a:p>
        </p:txBody>
      </p:sp>
      <p:sp>
        <p:nvSpPr>
          <p:cNvPr id="9" name="TextBox 8"/>
          <p:cNvSpPr txBox="1"/>
          <p:nvPr/>
        </p:nvSpPr>
        <p:spPr>
          <a:xfrm>
            <a:off x="896112" y="2340864"/>
            <a:ext cx="319125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Automatic MPS / CUDA / CPU device selection.</a:t>
            </a:r>
          </a:p>
          <a:p>
            <a:pPr>
              <a:lnSpc>
                <a:spcPct val="115000"/>
              </a:lnSpc>
              <a:spcAft>
                <a:spcPts val="600"/>
              </a:spcAft>
              <a:defRPr sz="1400">
                <a:solidFill>
                  <a:srgbClr val="233248"/>
                </a:solidFill>
                <a:latin typeface="Avenir Next"/>
              </a:defRPr>
            </a:pPr>
            <a:r>
              <a:t>Safer index handling and masking on Apple Silicon.</a:t>
            </a:r>
          </a:p>
          <a:p>
            <a:pPr>
              <a:lnSpc>
                <a:spcPct val="115000"/>
              </a:lnSpc>
              <a:spcAft>
                <a:spcPts val="600"/>
              </a:spcAft>
              <a:defRPr sz="1400">
                <a:solidFill>
                  <a:srgbClr val="233248"/>
                </a:solidFill>
                <a:latin typeface="Avenir Next"/>
              </a:defRPr>
            </a:pPr>
            <a:r>
              <a:t>Conservative worker settings for macOS.</a:t>
            </a:r>
          </a:p>
        </p:txBody>
      </p:sp>
      <p:sp>
        <p:nvSpPr>
          <p:cNvPr id="10" name="Rounded Rectangle 9"/>
          <p:cNvSpPr/>
          <p:nvPr/>
        </p:nvSpPr>
        <p:spPr>
          <a:xfrm>
            <a:off x="4389120" y="1828800"/>
            <a:ext cx="352044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828800"/>
            <a:ext cx="352044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75104"/>
            <a:ext cx="3191256" cy="411480"/>
          </a:xfrm>
          <a:prstGeom prst="rect">
            <a:avLst/>
          </a:prstGeom>
          <a:noFill/>
        </p:spPr>
        <p:txBody>
          <a:bodyPr wrap="none">
            <a:spAutoFit/>
          </a:bodyPr>
          <a:lstStyle/>
          <a:p>
            <a:pPr>
              <a:defRPr b="1" sz="1800">
                <a:solidFill>
                  <a:srgbClr val="122747"/>
                </a:solidFill>
                <a:latin typeface="Avenir Next"/>
              </a:defRPr>
            </a:pPr>
            <a:r>
              <a:t>Dataset-aware training</a:t>
            </a:r>
          </a:p>
        </p:txBody>
      </p:sp>
      <p:sp>
        <p:nvSpPr>
          <p:cNvPr id="13" name="TextBox 12"/>
          <p:cNvSpPr txBox="1"/>
          <p:nvPr/>
        </p:nvSpPr>
        <p:spPr>
          <a:xfrm>
            <a:off x="4553712" y="2340864"/>
            <a:ext cx="319125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 unified train script now supports ModelNet40, ModelNet10, and 3D MNIST.</a:t>
            </a:r>
          </a:p>
          <a:p>
            <a:pPr>
              <a:lnSpc>
                <a:spcPct val="115000"/>
              </a:lnSpc>
              <a:spcAft>
                <a:spcPts val="600"/>
              </a:spcAft>
              <a:defRPr sz="1400">
                <a:solidFill>
                  <a:srgbClr val="233248"/>
                </a:solidFill>
                <a:latin typeface="Avenir Next"/>
              </a:defRPr>
            </a:pPr>
            <a:r>
              <a:t>The evaluation script can reuse run configuration automatically.</a:t>
            </a:r>
          </a:p>
        </p:txBody>
      </p:sp>
      <p:sp>
        <p:nvSpPr>
          <p:cNvPr id="14" name="Rounded Rectangle 13"/>
          <p:cNvSpPr/>
          <p:nvPr/>
        </p:nvSpPr>
        <p:spPr>
          <a:xfrm>
            <a:off x="8046720" y="1828800"/>
            <a:ext cx="338328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338328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975104"/>
            <a:ext cx="3054096" cy="411480"/>
          </a:xfrm>
          <a:prstGeom prst="rect">
            <a:avLst/>
          </a:prstGeom>
          <a:noFill/>
        </p:spPr>
        <p:txBody>
          <a:bodyPr wrap="none">
            <a:spAutoFit/>
          </a:bodyPr>
          <a:lstStyle/>
          <a:p>
            <a:pPr>
              <a:defRPr b="1" sz="1800">
                <a:solidFill>
                  <a:srgbClr val="122747"/>
                </a:solidFill>
                <a:latin typeface="Avenir Next"/>
              </a:defRPr>
            </a:pPr>
            <a:r>
              <a:t>Persistent experiment records</a:t>
            </a:r>
          </a:p>
        </p:txBody>
      </p:sp>
      <p:sp>
        <p:nvSpPr>
          <p:cNvPr id="17" name="TextBox 16"/>
          <p:cNvSpPr txBox="1"/>
          <p:nvPr/>
        </p:nvSpPr>
        <p:spPr>
          <a:xfrm>
            <a:off x="8211312" y="2340864"/>
            <a:ext cx="305409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run_config.json for exact arguments and environment.</a:t>
            </a:r>
          </a:p>
          <a:p>
            <a:pPr>
              <a:lnSpc>
                <a:spcPct val="115000"/>
              </a:lnSpc>
              <a:spcAft>
                <a:spcPts val="600"/>
              </a:spcAft>
              <a:defRPr sz="1400">
                <a:solidFill>
                  <a:srgbClr val="233248"/>
                </a:solidFill>
                <a:latin typeface="Avenir Next"/>
              </a:defRPr>
            </a:pPr>
            <a:r>
              <a:t>metrics.csv for per-epoch curves.</a:t>
            </a:r>
          </a:p>
          <a:p>
            <a:pPr>
              <a:lnSpc>
                <a:spcPct val="115000"/>
              </a:lnSpc>
              <a:spcAft>
                <a:spcPts val="600"/>
              </a:spcAft>
              <a:defRPr sz="1400">
                <a:solidFill>
                  <a:srgbClr val="233248"/>
                </a:solidFill>
                <a:latin typeface="Avenir Next"/>
              </a:defRPr>
            </a:pPr>
            <a:r>
              <a:t>summary.json for the best final result.</a:t>
            </a:r>
          </a:p>
          <a:p>
            <a:pPr>
              <a:lnSpc>
                <a:spcPct val="115000"/>
              </a:lnSpc>
              <a:spcAft>
                <a:spcPts val="600"/>
              </a:spcAft>
              <a:defRPr sz="1400">
                <a:solidFill>
                  <a:srgbClr val="233248"/>
                </a:solidFill>
                <a:latin typeface="Avenir Next"/>
              </a:defRPr>
            </a:pPr>
            <a:r>
              <a:t>Exact code snapshots copied into each run directory.</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0" name="TextBox 19"/>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9/16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Evaluation</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Experimental Setup and Metrics</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What was measured and how</a:t>
            </a:r>
          </a:p>
        </p:txBody>
      </p:sp>
      <p:sp>
        <p:nvSpPr>
          <p:cNvPr id="6" name="Rounded Rectangle 5"/>
          <p:cNvSpPr/>
          <p:nvPr/>
        </p:nvSpPr>
        <p:spPr>
          <a:xfrm>
            <a:off x="731520" y="1828800"/>
            <a:ext cx="3474720" cy="301752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34747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3145536" cy="411480"/>
          </a:xfrm>
          <a:prstGeom prst="rect">
            <a:avLst/>
          </a:prstGeom>
          <a:noFill/>
        </p:spPr>
        <p:txBody>
          <a:bodyPr wrap="none">
            <a:spAutoFit/>
          </a:bodyPr>
          <a:lstStyle/>
          <a:p>
            <a:pPr>
              <a:defRPr b="1" sz="1800">
                <a:solidFill>
                  <a:srgbClr val="122747"/>
                </a:solidFill>
                <a:latin typeface="Avenir Next"/>
              </a:defRPr>
            </a:pPr>
            <a:r>
              <a:t>Shared setup</a:t>
            </a:r>
          </a:p>
        </p:txBody>
      </p:sp>
      <p:sp>
        <p:nvSpPr>
          <p:cNvPr id="9" name="TextBox 8"/>
          <p:cNvSpPr txBox="1"/>
          <p:nvPr/>
        </p:nvSpPr>
        <p:spPr>
          <a:xfrm>
            <a:off x="896112" y="2340864"/>
            <a:ext cx="3145536" cy="235915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1024 input points.</a:t>
            </a:r>
          </a:p>
          <a:p>
            <a:pPr>
              <a:lnSpc>
                <a:spcPct val="115000"/>
              </a:lnSpc>
              <a:spcAft>
                <a:spcPts val="600"/>
              </a:spcAft>
              <a:defRPr sz="1400">
                <a:solidFill>
                  <a:srgbClr val="233248"/>
                </a:solidFill>
                <a:latin typeface="Avenir Next"/>
              </a:defRPr>
            </a:pPr>
            <a:r>
              <a:t>Adam optimizer, learning rate 0.001, weight decay 1e-4.</a:t>
            </a:r>
          </a:p>
          <a:p>
            <a:pPr>
              <a:lnSpc>
                <a:spcPct val="115000"/>
              </a:lnSpc>
              <a:spcAft>
                <a:spcPts val="600"/>
              </a:spcAft>
              <a:defRPr sz="1400">
                <a:solidFill>
                  <a:srgbClr val="233248"/>
                </a:solidFill>
                <a:latin typeface="Avenir Next"/>
              </a:defRPr>
            </a:pPr>
            <a:r>
              <a:t>StepLR with step size 20 and gamma 0.7.</a:t>
            </a:r>
          </a:p>
          <a:p>
            <a:pPr>
              <a:lnSpc>
                <a:spcPct val="115000"/>
              </a:lnSpc>
              <a:spcAft>
                <a:spcPts val="600"/>
              </a:spcAft>
              <a:defRPr sz="1400">
                <a:solidFill>
                  <a:srgbClr val="233248"/>
                </a:solidFill>
                <a:latin typeface="Avenir Next"/>
              </a:defRPr>
            </a:pPr>
            <a:r>
              <a:t>Primary runs used no normals.</a:t>
            </a:r>
          </a:p>
        </p:txBody>
      </p:sp>
      <p:sp>
        <p:nvSpPr>
          <p:cNvPr id="10" name="Rounded Rectangle 9"/>
          <p:cNvSpPr/>
          <p:nvPr/>
        </p:nvSpPr>
        <p:spPr>
          <a:xfrm>
            <a:off x="4389120" y="1828800"/>
            <a:ext cx="3383280" cy="301752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828800"/>
            <a:ext cx="338328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75104"/>
            <a:ext cx="3054096" cy="411480"/>
          </a:xfrm>
          <a:prstGeom prst="rect">
            <a:avLst/>
          </a:prstGeom>
          <a:noFill/>
        </p:spPr>
        <p:txBody>
          <a:bodyPr wrap="none">
            <a:spAutoFit/>
          </a:bodyPr>
          <a:lstStyle/>
          <a:p>
            <a:pPr>
              <a:defRPr b="1" sz="1800">
                <a:solidFill>
                  <a:srgbClr val="122747"/>
                </a:solidFill>
                <a:latin typeface="Avenir Next"/>
              </a:defRPr>
            </a:pPr>
            <a:r>
              <a:t>Metrics</a:t>
            </a:r>
          </a:p>
        </p:txBody>
      </p:sp>
      <p:sp>
        <p:nvSpPr>
          <p:cNvPr id="13" name="TextBox 12"/>
          <p:cNvSpPr txBox="1"/>
          <p:nvPr/>
        </p:nvSpPr>
        <p:spPr>
          <a:xfrm>
            <a:off x="4553712" y="2340864"/>
            <a:ext cx="3054096" cy="235915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Instance accuracy: percentage of correctly classified test samples.</a:t>
            </a:r>
          </a:p>
          <a:p>
            <a:pPr>
              <a:lnSpc>
                <a:spcPct val="115000"/>
              </a:lnSpc>
              <a:spcAft>
                <a:spcPts val="600"/>
              </a:spcAft>
              <a:defRPr sz="1400">
                <a:solidFill>
                  <a:srgbClr val="233248"/>
                </a:solidFill>
                <a:latin typeface="Avenir Next"/>
              </a:defRPr>
            </a:pPr>
            <a:r>
              <a:t>Class accuracy: average of per-class accuracies.</a:t>
            </a:r>
          </a:p>
          <a:p>
            <a:pPr>
              <a:lnSpc>
                <a:spcPct val="115000"/>
              </a:lnSpc>
              <a:spcAft>
                <a:spcPts val="600"/>
              </a:spcAft>
              <a:defRPr sz="1400">
                <a:solidFill>
                  <a:srgbClr val="233248"/>
                </a:solidFill>
                <a:latin typeface="Avenir Next"/>
              </a:defRPr>
            </a:pPr>
            <a:r>
              <a:t>Train accuracy, learning rate, and global step logged per epoch.</a:t>
            </a:r>
          </a:p>
        </p:txBody>
      </p:sp>
      <p:sp>
        <p:nvSpPr>
          <p:cNvPr id="14" name="Rounded Rectangle 13"/>
          <p:cNvSpPr/>
          <p:nvPr/>
        </p:nvSpPr>
        <p:spPr>
          <a:xfrm>
            <a:off x="8092440" y="1828800"/>
            <a:ext cx="3246120" cy="301752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828800"/>
            <a:ext cx="3246120" cy="73152"/>
          </a:xfrm>
          <a:prstGeom prst="rect">
            <a:avLst/>
          </a:prstGeom>
          <a:solidFill>
            <a:srgbClr val="D79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1975104"/>
            <a:ext cx="2916936" cy="411480"/>
          </a:xfrm>
          <a:prstGeom prst="rect">
            <a:avLst/>
          </a:prstGeom>
          <a:noFill/>
        </p:spPr>
        <p:txBody>
          <a:bodyPr wrap="none">
            <a:spAutoFit/>
          </a:bodyPr>
          <a:lstStyle/>
          <a:p>
            <a:pPr>
              <a:defRPr b="1" sz="1800">
                <a:solidFill>
                  <a:srgbClr val="122747"/>
                </a:solidFill>
                <a:latin typeface="Avenir Next"/>
              </a:defRPr>
            </a:pPr>
            <a:r>
              <a:t>Important caveat</a:t>
            </a:r>
          </a:p>
        </p:txBody>
      </p:sp>
      <p:sp>
        <p:nvSpPr>
          <p:cNvPr id="17" name="TextBox 16"/>
          <p:cNvSpPr txBox="1"/>
          <p:nvPr/>
        </p:nvSpPr>
        <p:spPr>
          <a:xfrm>
            <a:off x="8257032" y="2340864"/>
            <a:ext cx="2916936" cy="235915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ModelNet40 variants did not all use the same batch size.</a:t>
            </a:r>
          </a:p>
          <a:p>
            <a:pPr>
              <a:lnSpc>
                <a:spcPct val="115000"/>
              </a:lnSpc>
              <a:spcAft>
                <a:spcPts val="600"/>
              </a:spcAft>
              <a:defRPr sz="1400">
                <a:solidFill>
                  <a:srgbClr val="233248"/>
                </a:solidFill>
                <a:latin typeface="Avenir Next"/>
              </a:defRPr>
            </a:pPr>
            <a:r>
              <a:t>3D MNIST baseline and attn-v2 were run under the same settings, making that comparison cleaner.</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0" name="TextBox 19"/>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10/16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Results</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ModelNet40 Results</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local baseline remains the strongest top-line model</a:t>
            </a:r>
          </a:p>
        </p:txBody>
      </p:sp>
      <p:graphicFrame>
        <p:nvGraphicFramePr>
          <p:cNvPr id="6" name="Table 5"/>
          <p:cNvGraphicFramePr>
            <a:graphicFrameLocks noGrp="1"/>
          </p:cNvGraphicFramePr>
          <p:nvPr/>
        </p:nvGraphicFramePr>
        <p:xfrm>
          <a:off x="640080" y="1737360"/>
          <a:ext cx="5577840" cy="2560320"/>
        </p:xfrm>
        <a:graphic>
          <a:graphicData uri="http://schemas.openxmlformats.org/drawingml/2006/table">
            <a:tbl>
              <a:tblPr firstRow="1" bandRow="1">
                <a:tableStyleId>{5C22544A-7EE6-4342-B048-85BDC9FD1C3A}</a:tableStyleId>
              </a:tblPr>
              <a:tblGrid>
                <a:gridCol w="1394460"/>
                <a:gridCol w="1394460"/>
                <a:gridCol w="1394460"/>
                <a:gridCol w="1394460"/>
              </a:tblGrid>
              <a:tr h="512064">
                <a:tc>
                  <a:txBody>
                    <a:bodyPr/>
                    <a:lstStyle/>
                    <a:p>
                      <a:pPr algn="ctr">
                        <a:defRPr b="1" sz="1100">
                          <a:solidFill>
                            <a:srgbClr val="FFFFFF"/>
                          </a:solidFill>
                          <a:latin typeface="Avenir Next"/>
                        </a:defRPr>
                      </a:pPr>
                      <a:r>
                        <a:t>Model</a:t>
                      </a:r>
                    </a:p>
                  </a:txBody>
                  <a:tcPr>
                    <a:solidFill>
                      <a:srgbClr val="122747"/>
                    </a:solidFill>
                  </a:tcPr>
                </a:tc>
                <a:tc>
                  <a:txBody>
                    <a:bodyPr/>
                    <a:lstStyle/>
                    <a:p>
                      <a:pPr algn="ctr">
                        <a:defRPr b="1" sz="1100">
                          <a:solidFill>
                            <a:srgbClr val="FFFFFF"/>
                          </a:solidFill>
                          <a:latin typeface="Avenir Next"/>
                        </a:defRPr>
                      </a:pPr>
                      <a:r>
                        <a:t>Best Inst.</a:t>
                      </a:r>
                    </a:p>
                  </a:txBody>
                  <a:tcPr>
                    <a:solidFill>
                      <a:srgbClr val="122747"/>
                    </a:solidFill>
                  </a:tcPr>
                </a:tc>
                <a:tc>
                  <a:txBody>
                    <a:bodyPr/>
                    <a:lstStyle/>
                    <a:p>
                      <a:pPr algn="ctr">
                        <a:defRPr b="1" sz="1100">
                          <a:solidFill>
                            <a:srgbClr val="FFFFFF"/>
                          </a:solidFill>
                          <a:latin typeface="Avenir Next"/>
                        </a:defRPr>
                      </a:pPr>
                      <a:r>
                        <a:t>Best Class</a:t>
                      </a:r>
                    </a:p>
                  </a:txBody>
                  <a:tcPr>
                    <a:solidFill>
                      <a:srgbClr val="122747"/>
                    </a:solidFill>
                  </a:tcPr>
                </a:tc>
                <a:tc>
                  <a:txBody>
                    <a:bodyPr/>
                    <a:lstStyle/>
                    <a:p>
                      <a:pPr algn="ctr">
                        <a:defRPr b="1" sz="1100">
                          <a:solidFill>
                            <a:srgbClr val="FFFFFF"/>
                          </a:solidFill>
                          <a:latin typeface="Avenir Next"/>
                        </a:defRPr>
                      </a:pPr>
                      <a:r>
                        <a:t>Best Epoch</a:t>
                      </a:r>
                    </a:p>
                  </a:txBody>
                  <a:tcPr>
                    <a:solidFill>
                      <a:srgbClr val="122747"/>
                    </a:solidFill>
                  </a:tcPr>
                </a:tc>
              </a:tr>
              <a:tr h="512064">
                <a:tc>
                  <a:txBody>
                    <a:bodyPr/>
                    <a:lstStyle/>
                    <a:p>
                      <a:pPr algn="ctr">
                        <a:defRPr sz="1050">
                          <a:solidFill>
                            <a:srgbClr val="233248"/>
                          </a:solidFill>
                          <a:latin typeface="Avenir Next"/>
                        </a:defRPr>
                      </a:pPr>
                      <a:r>
                        <a:t>Baseline</a:t>
                      </a:r>
                    </a:p>
                  </a:txBody>
                  <a:tcPr>
                    <a:solidFill>
                      <a:srgbClr val="FFFFFF"/>
                    </a:solidFill>
                  </a:tcPr>
                </a:tc>
                <a:tc>
                  <a:txBody>
                    <a:bodyPr/>
                    <a:lstStyle/>
                    <a:p>
                      <a:pPr algn="ctr">
                        <a:defRPr sz="1050">
                          <a:solidFill>
                            <a:srgbClr val="233248"/>
                          </a:solidFill>
                          <a:latin typeface="Avenir Next"/>
                        </a:defRPr>
                      </a:pPr>
                      <a:r>
                        <a:t>92.459%</a:t>
                      </a:r>
                    </a:p>
                  </a:txBody>
                  <a:tcPr>
                    <a:solidFill>
                      <a:srgbClr val="FFFFFF"/>
                    </a:solidFill>
                  </a:tcPr>
                </a:tc>
                <a:tc>
                  <a:txBody>
                    <a:bodyPr/>
                    <a:lstStyle/>
                    <a:p>
                      <a:pPr algn="ctr">
                        <a:defRPr sz="1050">
                          <a:solidFill>
                            <a:srgbClr val="233248"/>
                          </a:solidFill>
                          <a:latin typeface="Avenir Next"/>
                        </a:defRPr>
                      </a:pPr>
                      <a:r>
                        <a:t>89.175%</a:t>
                      </a:r>
                    </a:p>
                  </a:txBody>
                  <a:tcPr>
                    <a:solidFill>
                      <a:srgbClr val="FFFFFF"/>
                    </a:solidFill>
                  </a:tcPr>
                </a:tc>
                <a:tc>
                  <a:txBody>
                    <a:bodyPr/>
                    <a:lstStyle/>
                    <a:p>
                      <a:pPr algn="ctr">
                        <a:defRPr sz="1050">
                          <a:solidFill>
                            <a:srgbClr val="233248"/>
                          </a:solidFill>
                          <a:latin typeface="Avenir Next"/>
                        </a:defRPr>
                      </a:pPr>
                      <a:r>
                        <a:t>68</a:t>
                      </a:r>
                    </a:p>
                  </a:txBody>
                  <a:tcPr>
                    <a:solidFill>
                      <a:srgbClr val="FFFFFF"/>
                    </a:solidFill>
                  </a:tcPr>
                </a:tc>
              </a:tr>
              <a:tr h="512064">
                <a:tc>
                  <a:txBody>
                    <a:bodyPr/>
                    <a:lstStyle/>
                    <a:p>
                      <a:pPr algn="ctr">
                        <a:defRPr sz="1050">
                          <a:solidFill>
                            <a:srgbClr val="233248"/>
                          </a:solidFill>
                          <a:latin typeface="Avenir Next"/>
                        </a:defRPr>
                      </a:pPr>
                      <a:r>
                        <a:t>SE</a:t>
                      </a:r>
                    </a:p>
                  </a:txBody>
                  <a:tcPr>
                    <a:solidFill>
                      <a:srgbClr val="F4F8FC"/>
                    </a:solidFill>
                  </a:tcPr>
                </a:tc>
                <a:tc>
                  <a:txBody>
                    <a:bodyPr/>
                    <a:lstStyle/>
                    <a:p>
                      <a:pPr algn="ctr">
                        <a:defRPr sz="1050">
                          <a:solidFill>
                            <a:srgbClr val="233248"/>
                          </a:solidFill>
                          <a:latin typeface="Avenir Next"/>
                        </a:defRPr>
                      </a:pPr>
                      <a:r>
                        <a:t>91.976%</a:t>
                      </a:r>
                    </a:p>
                  </a:txBody>
                  <a:tcPr>
                    <a:solidFill>
                      <a:srgbClr val="F4F8FC"/>
                    </a:solidFill>
                  </a:tcPr>
                </a:tc>
                <a:tc>
                  <a:txBody>
                    <a:bodyPr/>
                    <a:lstStyle/>
                    <a:p>
                      <a:pPr algn="ctr">
                        <a:defRPr sz="1050">
                          <a:solidFill>
                            <a:srgbClr val="233248"/>
                          </a:solidFill>
                          <a:latin typeface="Avenir Next"/>
                        </a:defRPr>
                      </a:pPr>
                      <a:r>
                        <a:t>89.626%</a:t>
                      </a:r>
                    </a:p>
                  </a:txBody>
                  <a:tcPr>
                    <a:solidFill>
                      <a:srgbClr val="F4F8FC"/>
                    </a:solidFill>
                  </a:tcPr>
                </a:tc>
                <a:tc>
                  <a:txBody>
                    <a:bodyPr/>
                    <a:lstStyle/>
                    <a:p>
                      <a:pPr algn="ctr">
                        <a:defRPr sz="1050">
                          <a:solidFill>
                            <a:srgbClr val="233248"/>
                          </a:solidFill>
                          <a:latin typeface="Avenir Next"/>
                        </a:defRPr>
                      </a:pPr>
                      <a:r>
                        <a:t>92</a:t>
                      </a:r>
                    </a:p>
                  </a:txBody>
                  <a:tcPr>
                    <a:solidFill>
                      <a:srgbClr val="F4F8FC"/>
                    </a:solidFill>
                  </a:tcPr>
                </a:tc>
              </a:tr>
              <a:tr h="512064">
                <a:tc>
                  <a:txBody>
                    <a:bodyPr/>
                    <a:lstStyle/>
                    <a:p>
                      <a:pPr algn="ctr">
                        <a:defRPr sz="1050">
                          <a:solidFill>
                            <a:srgbClr val="233248"/>
                          </a:solidFill>
                          <a:latin typeface="Avenir Next"/>
                        </a:defRPr>
                      </a:pPr>
                      <a:r>
                        <a:t>attn-v1</a:t>
                      </a:r>
                    </a:p>
                  </a:txBody>
                  <a:tcPr>
                    <a:solidFill>
                      <a:srgbClr val="FFFFFF"/>
                    </a:solidFill>
                  </a:tcPr>
                </a:tc>
                <a:tc>
                  <a:txBody>
                    <a:bodyPr/>
                    <a:lstStyle/>
                    <a:p>
                      <a:pPr algn="ctr">
                        <a:defRPr sz="1050">
                          <a:solidFill>
                            <a:srgbClr val="233248"/>
                          </a:solidFill>
                          <a:latin typeface="Avenir Next"/>
                        </a:defRPr>
                      </a:pPr>
                      <a:r>
                        <a:t>91.392%</a:t>
                      </a:r>
                    </a:p>
                  </a:txBody>
                  <a:tcPr>
                    <a:solidFill>
                      <a:srgbClr val="FFFFFF"/>
                    </a:solidFill>
                  </a:tcPr>
                </a:tc>
                <a:tc>
                  <a:txBody>
                    <a:bodyPr/>
                    <a:lstStyle/>
                    <a:p>
                      <a:pPr algn="ctr">
                        <a:defRPr sz="1050">
                          <a:solidFill>
                            <a:srgbClr val="233248"/>
                          </a:solidFill>
                          <a:latin typeface="Avenir Next"/>
                        </a:defRPr>
                      </a:pPr>
                      <a:r>
                        <a:t>86.231%</a:t>
                      </a:r>
                    </a:p>
                  </a:txBody>
                  <a:tcPr>
                    <a:solidFill>
                      <a:srgbClr val="FFFFFF"/>
                    </a:solidFill>
                  </a:tcPr>
                </a:tc>
                <a:tc>
                  <a:txBody>
                    <a:bodyPr/>
                    <a:lstStyle/>
                    <a:p>
                      <a:pPr algn="ctr">
                        <a:defRPr sz="1050">
                          <a:solidFill>
                            <a:srgbClr val="233248"/>
                          </a:solidFill>
                          <a:latin typeface="Avenir Next"/>
                        </a:defRPr>
                      </a:pPr>
                      <a:r>
                        <a:t>88</a:t>
                      </a:r>
                    </a:p>
                  </a:txBody>
                  <a:tcPr>
                    <a:solidFill>
                      <a:srgbClr val="FFFFFF"/>
                    </a:solidFill>
                  </a:tcPr>
                </a:tc>
              </a:tr>
              <a:tr h="512064">
                <a:tc>
                  <a:txBody>
                    <a:bodyPr/>
                    <a:lstStyle/>
                    <a:p>
                      <a:pPr algn="ctr">
                        <a:defRPr sz="1050">
                          <a:solidFill>
                            <a:srgbClr val="233248"/>
                          </a:solidFill>
                          <a:latin typeface="Avenir Next"/>
                        </a:defRPr>
                      </a:pPr>
                      <a:r>
                        <a:t>attn-v2</a:t>
                      </a:r>
                    </a:p>
                  </a:txBody>
                  <a:tcPr>
                    <a:solidFill>
                      <a:srgbClr val="F4F8FC"/>
                    </a:solidFill>
                  </a:tcPr>
                </a:tc>
                <a:tc>
                  <a:txBody>
                    <a:bodyPr/>
                    <a:lstStyle/>
                    <a:p>
                      <a:pPr algn="ctr">
                        <a:defRPr sz="1050">
                          <a:solidFill>
                            <a:srgbClr val="233248"/>
                          </a:solidFill>
                          <a:latin typeface="Avenir Next"/>
                        </a:defRPr>
                      </a:pPr>
                      <a:r>
                        <a:t>92.056%</a:t>
                      </a:r>
                    </a:p>
                  </a:txBody>
                  <a:tcPr>
                    <a:solidFill>
                      <a:srgbClr val="F4F8FC"/>
                    </a:solidFill>
                  </a:tcPr>
                </a:tc>
                <a:tc>
                  <a:txBody>
                    <a:bodyPr/>
                    <a:lstStyle/>
                    <a:p>
                      <a:pPr algn="ctr">
                        <a:defRPr sz="1050">
                          <a:solidFill>
                            <a:srgbClr val="233248"/>
                          </a:solidFill>
                          <a:latin typeface="Avenir Next"/>
                        </a:defRPr>
                      </a:pPr>
                      <a:r>
                        <a:t>89.597%</a:t>
                      </a:r>
                    </a:p>
                  </a:txBody>
                  <a:tcPr>
                    <a:solidFill>
                      <a:srgbClr val="F4F8FC"/>
                    </a:solidFill>
                  </a:tcPr>
                </a:tc>
                <a:tc>
                  <a:txBody>
                    <a:bodyPr/>
                    <a:lstStyle/>
                    <a:p>
                      <a:pPr algn="ctr">
                        <a:defRPr sz="1050">
                          <a:solidFill>
                            <a:srgbClr val="233248"/>
                          </a:solidFill>
                          <a:latin typeface="Avenir Next"/>
                        </a:defRPr>
                      </a:pPr>
                      <a:r>
                        <a:t>100</a:t>
                      </a:r>
                    </a:p>
                  </a:txBody>
                  <a:tcPr>
                    <a:solidFill>
                      <a:srgbClr val="F4F8FC"/>
                    </a:solidFill>
                  </a:tcPr>
                </a:tc>
              </a:tr>
            </a:tbl>
          </a:graphicData>
        </a:graphic>
      </p:graphicFrame>
      <p:graphicFrame>
        <p:nvGraphicFramePr>
          <p:cNvPr id="7" name="Chart 6"/>
          <p:cNvGraphicFramePr>
            <a:graphicFrameLocks noGrp="1"/>
          </p:cNvGraphicFramePr>
          <p:nvPr/>
        </p:nvGraphicFramePr>
        <p:xfrm>
          <a:off x="6492240" y="1828800"/>
          <a:ext cx="4937760" cy="3200400"/>
        </p:xfrm>
        <a:graphic>
          <a:graphicData uri="http://schemas.openxmlformats.org/drawingml/2006/chart">
            <c:chart xmlns:c="http://schemas.openxmlformats.org/drawingml/2006/chart" r:id="rId2"/>
          </a:graphicData>
        </a:graphic>
      </p:graphicFrame>
      <p:sp>
        <p:nvSpPr>
          <p:cNvPr id="8" name="TextBox 7"/>
          <p:cNvSpPr txBox="1"/>
          <p:nvPr/>
        </p:nvSpPr>
        <p:spPr>
          <a:xfrm>
            <a:off x="731520" y="5394960"/>
            <a:ext cx="10607040" cy="548640"/>
          </a:xfrm>
          <a:prstGeom prst="rect">
            <a:avLst/>
          </a:prstGeom>
          <a:noFill/>
        </p:spPr>
        <p:txBody>
          <a:bodyPr wrap="square" lIns="50800" rIns="50800" anchor="t">
            <a:spAutoFit/>
          </a:bodyPr>
          <a:lstStyle/>
          <a:p>
            <a:pPr>
              <a:lnSpc>
                <a:spcPct val="118000"/>
              </a:lnSpc>
              <a:spcAft>
                <a:spcPts val="800"/>
              </a:spcAft>
              <a:defRPr sz="1600">
                <a:solidFill>
                  <a:srgbClr val="233248"/>
                </a:solidFill>
                <a:latin typeface="Avenir Next"/>
              </a:defRPr>
            </a:pPr>
            <a:r>
              <a:t>Attention v2 is a strong repair over attention v1, but it still trails the local baseline by 0.403 points in instance accuracy.</a:t>
            </a:r>
          </a:p>
        </p:txBody>
      </p:sp>
      <p:sp>
        <p:nvSpPr>
          <p:cNvPr id="9" name="Rectangle 8"/>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1" name="TextBox 10"/>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11/16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Paper</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Comparison with the PointNet++ Paper</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local retrain is the real benchmark</a:t>
            </a:r>
          </a:p>
        </p:txBody>
      </p:sp>
      <p:graphicFrame>
        <p:nvGraphicFramePr>
          <p:cNvPr id="6" name="Table 5"/>
          <p:cNvGraphicFramePr>
            <a:graphicFrameLocks noGrp="1"/>
          </p:cNvGraphicFramePr>
          <p:nvPr/>
        </p:nvGraphicFramePr>
        <p:xfrm>
          <a:off x="731520" y="1828800"/>
          <a:ext cx="5486400" cy="2560320"/>
        </p:xfrm>
        <a:graphic>
          <a:graphicData uri="http://schemas.openxmlformats.org/drawingml/2006/table">
            <a:tbl>
              <a:tblPr firstRow="1" bandRow="1">
                <a:tableStyleId>{5C22544A-7EE6-4342-B048-85BDC9FD1C3A}</a:tableStyleId>
              </a:tblPr>
              <a:tblGrid>
                <a:gridCol w="1828800"/>
                <a:gridCol w="1828800"/>
                <a:gridCol w="1828800"/>
              </a:tblGrid>
              <a:tr h="512064">
                <a:tc>
                  <a:txBody>
                    <a:bodyPr/>
                    <a:lstStyle/>
                    <a:p>
                      <a:pPr algn="ctr">
                        <a:defRPr b="1" sz="1100">
                          <a:solidFill>
                            <a:srgbClr val="FFFFFF"/>
                          </a:solidFill>
                          <a:latin typeface="Avenir Next"/>
                        </a:defRPr>
                      </a:pPr>
                      <a:r>
                        <a:t>Method</a:t>
                      </a:r>
                    </a:p>
                  </a:txBody>
                  <a:tcPr>
                    <a:solidFill>
                      <a:srgbClr val="122747"/>
                    </a:solidFill>
                  </a:tcPr>
                </a:tc>
                <a:tc>
                  <a:txBody>
                    <a:bodyPr/>
                    <a:lstStyle/>
                    <a:p>
                      <a:pPr algn="ctr">
                        <a:defRPr b="1" sz="1100">
                          <a:solidFill>
                            <a:srgbClr val="FFFFFF"/>
                          </a:solidFill>
                          <a:latin typeface="Avenir Next"/>
                        </a:defRPr>
                      </a:pPr>
                      <a:r>
                        <a:t>Features</a:t>
                      </a:r>
                    </a:p>
                  </a:txBody>
                  <a:tcPr>
                    <a:solidFill>
                      <a:srgbClr val="122747"/>
                    </a:solidFill>
                  </a:tcPr>
                </a:tc>
                <a:tc>
                  <a:txBody>
                    <a:bodyPr/>
                    <a:lstStyle/>
                    <a:p>
                      <a:pPr algn="ctr">
                        <a:defRPr b="1" sz="1100">
                          <a:solidFill>
                            <a:srgbClr val="FFFFFF"/>
                          </a:solidFill>
                          <a:latin typeface="Avenir Next"/>
                        </a:defRPr>
                      </a:pPr>
                      <a:r>
                        <a:t>Instance Acc.</a:t>
                      </a:r>
                    </a:p>
                  </a:txBody>
                  <a:tcPr>
                    <a:solidFill>
                      <a:srgbClr val="122747"/>
                    </a:solidFill>
                  </a:tcPr>
                </a:tc>
              </a:tr>
              <a:tr h="512064">
                <a:tc>
                  <a:txBody>
                    <a:bodyPr/>
                    <a:lstStyle/>
                    <a:p>
                      <a:pPr algn="ctr">
                        <a:defRPr sz="1050">
                          <a:solidFill>
                            <a:srgbClr val="233248"/>
                          </a:solidFill>
                          <a:latin typeface="Avenir Next"/>
                        </a:defRPr>
                      </a:pPr>
                      <a:r>
                        <a:t>PointNet++ paper</a:t>
                      </a:r>
                    </a:p>
                  </a:txBody>
                  <a:tcPr>
                    <a:solidFill>
                      <a:srgbClr val="FFFFFF"/>
                    </a:solidFill>
                  </a:tcPr>
                </a:tc>
                <a:tc>
                  <a:txBody>
                    <a:bodyPr/>
                    <a:lstStyle/>
                    <a:p>
                      <a:pPr algn="ctr">
                        <a:defRPr sz="1050">
                          <a:solidFill>
                            <a:srgbClr val="233248"/>
                          </a:solidFill>
                          <a:latin typeface="Avenir Next"/>
                        </a:defRPr>
                      </a:pPr>
                      <a:r>
                        <a:t>XYZ only</a:t>
                      </a:r>
                    </a:p>
                  </a:txBody>
                  <a:tcPr>
                    <a:solidFill>
                      <a:srgbClr val="FFFFFF"/>
                    </a:solidFill>
                  </a:tcPr>
                </a:tc>
                <a:tc>
                  <a:txBody>
                    <a:bodyPr/>
                    <a:lstStyle/>
                    <a:p>
                      <a:pPr algn="ctr">
                        <a:defRPr sz="1050">
                          <a:solidFill>
                            <a:srgbClr val="233248"/>
                          </a:solidFill>
                          <a:latin typeface="Avenir Next"/>
                        </a:defRPr>
                      </a:pPr>
                      <a:r>
                        <a:t>90.7%</a:t>
                      </a:r>
                    </a:p>
                  </a:txBody>
                  <a:tcPr>
                    <a:solidFill>
                      <a:srgbClr val="FFFFFF"/>
                    </a:solidFill>
                  </a:tcPr>
                </a:tc>
              </a:tr>
              <a:tr h="512064">
                <a:tc>
                  <a:txBody>
                    <a:bodyPr/>
                    <a:lstStyle/>
                    <a:p>
                      <a:pPr algn="ctr">
                        <a:defRPr sz="1050">
                          <a:solidFill>
                            <a:srgbClr val="233248"/>
                          </a:solidFill>
                          <a:latin typeface="Avenir Next"/>
                        </a:defRPr>
                      </a:pPr>
                      <a:r>
                        <a:t>PointNet++ paper</a:t>
                      </a:r>
                    </a:p>
                  </a:txBody>
                  <a:tcPr>
                    <a:solidFill>
                      <a:srgbClr val="F4F8FC"/>
                    </a:solidFill>
                  </a:tcPr>
                </a:tc>
                <a:tc>
                  <a:txBody>
                    <a:bodyPr/>
                    <a:lstStyle/>
                    <a:p>
                      <a:pPr algn="ctr">
                        <a:defRPr sz="1050">
                          <a:solidFill>
                            <a:srgbClr val="233248"/>
                          </a:solidFill>
                          <a:latin typeface="Avenir Next"/>
                        </a:defRPr>
                      </a:pPr>
                      <a:r>
                        <a:t>XYZ + normals</a:t>
                      </a:r>
                    </a:p>
                  </a:txBody>
                  <a:tcPr>
                    <a:solidFill>
                      <a:srgbClr val="F4F8FC"/>
                    </a:solidFill>
                  </a:tcPr>
                </a:tc>
                <a:tc>
                  <a:txBody>
                    <a:bodyPr/>
                    <a:lstStyle/>
                    <a:p>
                      <a:pPr algn="ctr">
                        <a:defRPr sz="1050">
                          <a:solidFill>
                            <a:srgbClr val="233248"/>
                          </a:solidFill>
                          <a:latin typeface="Avenir Next"/>
                        </a:defRPr>
                      </a:pPr>
                      <a:r>
                        <a:t>91.9%</a:t>
                      </a:r>
                    </a:p>
                  </a:txBody>
                  <a:tcPr>
                    <a:solidFill>
                      <a:srgbClr val="F4F8FC"/>
                    </a:solidFill>
                  </a:tcPr>
                </a:tc>
              </a:tr>
              <a:tr h="512064">
                <a:tc>
                  <a:txBody>
                    <a:bodyPr/>
                    <a:lstStyle/>
                    <a:p>
                      <a:pPr algn="ctr">
                        <a:defRPr sz="1050">
                          <a:solidFill>
                            <a:srgbClr val="233248"/>
                          </a:solidFill>
                          <a:latin typeface="Avenir Next"/>
                        </a:defRPr>
                      </a:pPr>
                      <a:r>
                        <a:t>Local baseline</a:t>
                      </a:r>
                    </a:p>
                  </a:txBody>
                  <a:tcPr>
                    <a:solidFill>
                      <a:srgbClr val="FFFFFF"/>
                    </a:solidFill>
                  </a:tcPr>
                </a:tc>
                <a:tc>
                  <a:txBody>
                    <a:bodyPr/>
                    <a:lstStyle/>
                    <a:p>
                      <a:pPr algn="ctr">
                        <a:defRPr sz="1050">
                          <a:solidFill>
                            <a:srgbClr val="233248"/>
                          </a:solidFill>
                          <a:latin typeface="Avenir Next"/>
                        </a:defRPr>
                      </a:pPr>
                      <a:r>
                        <a:t>XYZ only</a:t>
                      </a:r>
                    </a:p>
                  </a:txBody>
                  <a:tcPr>
                    <a:solidFill>
                      <a:srgbClr val="FFFFFF"/>
                    </a:solidFill>
                  </a:tcPr>
                </a:tc>
                <a:tc>
                  <a:txBody>
                    <a:bodyPr/>
                    <a:lstStyle/>
                    <a:p>
                      <a:pPr algn="ctr">
                        <a:defRPr sz="1050">
                          <a:solidFill>
                            <a:srgbClr val="233248"/>
                          </a:solidFill>
                          <a:latin typeface="Avenir Next"/>
                        </a:defRPr>
                      </a:pPr>
                      <a:r>
                        <a:t>92.459%</a:t>
                      </a:r>
                    </a:p>
                  </a:txBody>
                  <a:tcPr>
                    <a:solidFill>
                      <a:srgbClr val="FFFFFF"/>
                    </a:solidFill>
                  </a:tcPr>
                </a:tc>
              </a:tr>
              <a:tr h="512064">
                <a:tc>
                  <a:txBody>
                    <a:bodyPr/>
                    <a:lstStyle/>
                    <a:p>
                      <a:pPr algn="ctr">
                        <a:defRPr sz="1050">
                          <a:solidFill>
                            <a:srgbClr val="233248"/>
                          </a:solidFill>
                          <a:latin typeface="Avenir Next"/>
                        </a:defRPr>
                      </a:pPr>
                      <a:r>
                        <a:t>attn-v2</a:t>
                      </a:r>
                    </a:p>
                  </a:txBody>
                  <a:tcPr>
                    <a:solidFill>
                      <a:srgbClr val="F4F8FC"/>
                    </a:solidFill>
                  </a:tcPr>
                </a:tc>
                <a:tc>
                  <a:txBody>
                    <a:bodyPr/>
                    <a:lstStyle/>
                    <a:p>
                      <a:pPr algn="ctr">
                        <a:defRPr sz="1050">
                          <a:solidFill>
                            <a:srgbClr val="233248"/>
                          </a:solidFill>
                          <a:latin typeface="Avenir Next"/>
                        </a:defRPr>
                      </a:pPr>
                      <a:r>
                        <a:t>XYZ only</a:t>
                      </a:r>
                    </a:p>
                  </a:txBody>
                  <a:tcPr>
                    <a:solidFill>
                      <a:srgbClr val="F4F8FC"/>
                    </a:solidFill>
                  </a:tcPr>
                </a:tc>
                <a:tc>
                  <a:txBody>
                    <a:bodyPr/>
                    <a:lstStyle/>
                    <a:p>
                      <a:pPr algn="ctr">
                        <a:defRPr sz="1050">
                          <a:solidFill>
                            <a:srgbClr val="233248"/>
                          </a:solidFill>
                          <a:latin typeface="Avenir Next"/>
                        </a:defRPr>
                      </a:pPr>
                      <a:r>
                        <a:t>92.056%</a:t>
                      </a:r>
                    </a:p>
                  </a:txBody>
                  <a:tcPr>
                    <a:solidFill>
                      <a:srgbClr val="F4F8FC"/>
                    </a:solidFill>
                  </a:tcPr>
                </a:tc>
              </a:tr>
            </a:tbl>
          </a:graphicData>
        </a:graphic>
      </p:graphicFrame>
      <p:sp>
        <p:nvSpPr>
          <p:cNvPr id="7" name="Rounded Rectangle 6"/>
          <p:cNvSpPr/>
          <p:nvPr/>
        </p:nvSpPr>
        <p:spPr>
          <a:xfrm>
            <a:off x="6537960" y="1874519"/>
            <a:ext cx="2240280" cy="137160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2552" y="2011679"/>
            <a:ext cx="1911096" cy="475488"/>
          </a:xfrm>
          <a:prstGeom prst="rect">
            <a:avLst/>
          </a:prstGeom>
          <a:noFill/>
        </p:spPr>
        <p:txBody>
          <a:bodyPr wrap="none">
            <a:spAutoFit/>
          </a:bodyPr>
          <a:lstStyle/>
          <a:p>
            <a:pPr>
              <a:defRPr b="1" sz="2800">
                <a:solidFill>
                  <a:srgbClr val="198754"/>
                </a:solidFill>
                <a:latin typeface="Avenir Next"/>
              </a:defRPr>
            </a:pPr>
            <a:r>
              <a:t>+1.759</a:t>
            </a:r>
          </a:p>
        </p:txBody>
      </p:sp>
      <p:sp>
        <p:nvSpPr>
          <p:cNvPr id="9" name="TextBox 8"/>
          <p:cNvSpPr txBox="1"/>
          <p:nvPr/>
        </p:nvSpPr>
        <p:spPr>
          <a:xfrm>
            <a:off x="6702552" y="2532887"/>
            <a:ext cx="1911096" cy="347472"/>
          </a:xfrm>
          <a:prstGeom prst="rect">
            <a:avLst/>
          </a:prstGeom>
          <a:noFill/>
        </p:spPr>
        <p:txBody>
          <a:bodyPr wrap="none">
            <a:spAutoFit/>
          </a:bodyPr>
          <a:lstStyle/>
          <a:p>
            <a:pPr>
              <a:defRPr sz="1300">
                <a:solidFill>
                  <a:srgbClr val="233248"/>
                </a:solidFill>
                <a:latin typeface="Avenir Next"/>
              </a:defRPr>
            </a:pPr>
            <a:r>
              <a:t>Baseline vs paper XYZ</a:t>
            </a:r>
          </a:p>
        </p:txBody>
      </p:sp>
      <p:sp>
        <p:nvSpPr>
          <p:cNvPr id="10" name="Rounded Rectangle 9"/>
          <p:cNvSpPr/>
          <p:nvPr/>
        </p:nvSpPr>
        <p:spPr>
          <a:xfrm>
            <a:off x="9098280" y="1874519"/>
            <a:ext cx="2240280" cy="137160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62872" y="2011679"/>
            <a:ext cx="1911096" cy="475488"/>
          </a:xfrm>
          <a:prstGeom prst="rect">
            <a:avLst/>
          </a:prstGeom>
          <a:noFill/>
        </p:spPr>
        <p:txBody>
          <a:bodyPr wrap="none">
            <a:spAutoFit/>
          </a:bodyPr>
          <a:lstStyle/>
          <a:p>
            <a:pPr>
              <a:defRPr b="1" sz="2800">
                <a:solidFill>
                  <a:srgbClr val="0078D4"/>
                </a:solidFill>
                <a:latin typeface="Avenir Next"/>
              </a:defRPr>
            </a:pPr>
            <a:r>
              <a:t>+1.357</a:t>
            </a:r>
          </a:p>
        </p:txBody>
      </p:sp>
      <p:sp>
        <p:nvSpPr>
          <p:cNvPr id="12" name="TextBox 11"/>
          <p:cNvSpPr txBox="1"/>
          <p:nvPr/>
        </p:nvSpPr>
        <p:spPr>
          <a:xfrm>
            <a:off x="9262872" y="2532887"/>
            <a:ext cx="1911096" cy="347472"/>
          </a:xfrm>
          <a:prstGeom prst="rect">
            <a:avLst/>
          </a:prstGeom>
          <a:noFill/>
        </p:spPr>
        <p:txBody>
          <a:bodyPr wrap="none">
            <a:spAutoFit/>
          </a:bodyPr>
          <a:lstStyle/>
          <a:p>
            <a:pPr>
              <a:defRPr sz="1300">
                <a:solidFill>
                  <a:srgbClr val="233248"/>
                </a:solidFill>
                <a:latin typeface="Avenir Next"/>
              </a:defRPr>
            </a:pPr>
            <a:r>
              <a:t>attn-v2 vs paper XYZ</a:t>
            </a:r>
          </a:p>
        </p:txBody>
      </p:sp>
      <p:sp>
        <p:nvSpPr>
          <p:cNvPr id="13" name="TextBox 12"/>
          <p:cNvSpPr txBox="1"/>
          <p:nvPr/>
        </p:nvSpPr>
        <p:spPr>
          <a:xfrm>
            <a:off x="6492240" y="3657600"/>
            <a:ext cx="4754880" cy="164592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The codebase and training recipe already outperform the original 2017 paper result. That is why the local baseline, not the paper alone, is the correct target for judging the new method.</a:t>
            </a:r>
          </a:p>
        </p:txBody>
      </p:sp>
      <p:sp>
        <p:nvSpPr>
          <p:cNvPr id="14" name="Rectangle 13"/>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6" name="TextBox 15"/>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12/16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Dataset</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3D MNIST Integration</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practical second dataset for cross-dataset validation</a:t>
            </a:r>
          </a:p>
        </p:txBody>
      </p:sp>
      <p:sp>
        <p:nvSpPr>
          <p:cNvPr id="6" name="Rounded Rectangle 5"/>
          <p:cNvSpPr/>
          <p:nvPr/>
        </p:nvSpPr>
        <p:spPr>
          <a:xfrm>
            <a:off x="731520" y="1828800"/>
            <a:ext cx="347472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34747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3145536" cy="411480"/>
          </a:xfrm>
          <a:prstGeom prst="rect">
            <a:avLst/>
          </a:prstGeom>
          <a:noFill/>
        </p:spPr>
        <p:txBody>
          <a:bodyPr wrap="none">
            <a:spAutoFit/>
          </a:bodyPr>
          <a:lstStyle/>
          <a:p>
            <a:pPr>
              <a:defRPr b="1" sz="1800">
                <a:solidFill>
                  <a:srgbClr val="122747"/>
                </a:solidFill>
                <a:latin typeface="Avenir Next"/>
              </a:defRPr>
            </a:pPr>
            <a:r>
              <a:t>Why 3D MNIST</a:t>
            </a:r>
          </a:p>
        </p:txBody>
      </p:sp>
      <p:sp>
        <p:nvSpPr>
          <p:cNvPr id="9" name="TextBox 8"/>
          <p:cNvSpPr txBox="1"/>
          <p:nvPr/>
        </p:nvSpPr>
        <p:spPr>
          <a:xfrm>
            <a:off x="896112" y="2340864"/>
            <a:ext cx="314553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It was available locally as point-cloud-oriented HDF5 files.</a:t>
            </a:r>
          </a:p>
          <a:p>
            <a:pPr>
              <a:lnSpc>
                <a:spcPct val="115000"/>
              </a:lnSpc>
              <a:spcAft>
                <a:spcPts val="600"/>
              </a:spcAft>
              <a:defRPr sz="1400">
                <a:solidFill>
                  <a:srgbClr val="233248"/>
                </a:solidFill>
                <a:latin typeface="Avenir Next"/>
              </a:defRPr>
            </a:pPr>
            <a:r>
              <a:t>It could be integrated much faster than ScanObjectNN or raw ShapeNetCore.</a:t>
            </a:r>
          </a:p>
          <a:p>
            <a:pPr>
              <a:lnSpc>
                <a:spcPct val="115000"/>
              </a:lnSpc>
              <a:spcAft>
                <a:spcPts val="600"/>
              </a:spcAft>
              <a:defRPr sz="1400">
                <a:solidFill>
                  <a:srgbClr val="233248"/>
                </a:solidFill>
                <a:latin typeface="Avenir Next"/>
              </a:defRPr>
            </a:pPr>
            <a:r>
              <a:t>It still provides a real second 3D classification task.</a:t>
            </a:r>
          </a:p>
        </p:txBody>
      </p:sp>
      <p:sp>
        <p:nvSpPr>
          <p:cNvPr id="10" name="Rounded Rectangle 9"/>
          <p:cNvSpPr/>
          <p:nvPr/>
        </p:nvSpPr>
        <p:spPr>
          <a:xfrm>
            <a:off x="4389120" y="1828800"/>
            <a:ext cx="347472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828800"/>
            <a:ext cx="3474720" cy="73152"/>
          </a:xfrm>
          <a:prstGeom prst="rect">
            <a:avLst/>
          </a:prstGeom>
          <a:solidFill>
            <a:srgbClr val="519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75104"/>
            <a:ext cx="3145536" cy="411480"/>
          </a:xfrm>
          <a:prstGeom prst="rect">
            <a:avLst/>
          </a:prstGeom>
          <a:noFill/>
        </p:spPr>
        <p:txBody>
          <a:bodyPr wrap="none">
            <a:spAutoFit/>
          </a:bodyPr>
          <a:lstStyle/>
          <a:p>
            <a:pPr>
              <a:defRPr b="1" sz="1800">
                <a:solidFill>
                  <a:srgbClr val="122747"/>
                </a:solidFill>
                <a:latin typeface="Avenir Next"/>
              </a:defRPr>
            </a:pPr>
            <a:r>
              <a:t>What the loader does</a:t>
            </a:r>
          </a:p>
        </p:txBody>
      </p:sp>
      <p:sp>
        <p:nvSpPr>
          <p:cNvPr id="13" name="TextBox 12"/>
          <p:cNvSpPr txBox="1"/>
          <p:nvPr/>
        </p:nvSpPr>
        <p:spPr>
          <a:xfrm>
            <a:off x="4553712" y="2340864"/>
            <a:ext cx="314553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Read HDF5 groups with points, normals, and labels.</a:t>
            </a:r>
          </a:p>
          <a:p>
            <a:pPr>
              <a:lnSpc>
                <a:spcPct val="115000"/>
              </a:lnSpc>
              <a:spcAft>
                <a:spcPts val="600"/>
              </a:spcAft>
              <a:defRPr sz="1400">
                <a:solidFill>
                  <a:srgbClr val="233248"/>
                </a:solidFill>
                <a:latin typeface="Avenir Next"/>
              </a:defRPr>
            </a:pPr>
            <a:r>
              <a:t>Sample each object down to 1024 points.</a:t>
            </a:r>
          </a:p>
          <a:p>
            <a:pPr>
              <a:lnSpc>
                <a:spcPct val="115000"/>
              </a:lnSpc>
              <a:spcAft>
                <a:spcPts val="600"/>
              </a:spcAft>
              <a:defRPr sz="1400">
                <a:solidFill>
                  <a:srgbClr val="233248"/>
                </a:solidFill>
                <a:latin typeface="Avenir Next"/>
              </a:defRPr>
            </a:pPr>
            <a:r>
              <a:t>Normalize XYZ and optionally concatenate normals.</a:t>
            </a:r>
          </a:p>
        </p:txBody>
      </p:sp>
      <p:sp>
        <p:nvSpPr>
          <p:cNvPr id="14" name="Rounded Rectangle 13"/>
          <p:cNvSpPr/>
          <p:nvPr/>
        </p:nvSpPr>
        <p:spPr>
          <a:xfrm>
            <a:off x="8046720" y="1828800"/>
            <a:ext cx="3383280" cy="310896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828800"/>
            <a:ext cx="338328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975104"/>
            <a:ext cx="3054096" cy="411480"/>
          </a:xfrm>
          <a:prstGeom prst="rect">
            <a:avLst/>
          </a:prstGeom>
          <a:noFill/>
        </p:spPr>
        <p:txBody>
          <a:bodyPr wrap="none">
            <a:spAutoFit/>
          </a:bodyPr>
          <a:lstStyle/>
          <a:p>
            <a:pPr>
              <a:defRPr b="1" sz="1800">
                <a:solidFill>
                  <a:srgbClr val="122747"/>
                </a:solidFill>
                <a:latin typeface="Avenir Next"/>
              </a:defRPr>
            </a:pPr>
            <a:r>
              <a:t>Dataset properties</a:t>
            </a:r>
          </a:p>
        </p:txBody>
      </p:sp>
      <p:sp>
        <p:nvSpPr>
          <p:cNvPr id="17" name="TextBox 16"/>
          <p:cNvSpPr txBox="1"/>
          <p:nvPr/>
        </p:nvSpPr>
        <p:spPr>
          <a:xfrm>
            <a:off x="8211312" y="2340864"/>
            <a:ext cx="3054096" cy="245059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Train: 5000 samples.</a:t>
            </a:r>
          </a:p>
          <a:p>
            <a:pPr>
              <a:lnSpc>
                <a:spcPct val="115000"/>
              </a:lnSpc>
              <a:spcAft>
                <a:spcPts val="600"/>
              </a:spcAft>
              <a:defRPr sz="1400">
                <a:solidFill>
                  <a:srgbClr val="233248"/>
                </a:solidFill>
                <a:latin typeface="Avenir Next"/>
              </a:defRPr>
            </a:pPr>
            <a:r>
              <a:t>Test: 1000 samples.</a:t>
            </a:r>
          </a:p>
          <a:p>
            <a:pPr>
              <a:lnSpc>
                <a:spcPct val="115000"/>
              </a:lnSpc>
              <a:spcAft>
                <a:spcPts val="600"/>
              </a:spcAft>
              <a:defRPr sz="1400">
                <a:solidFill>
                  <a:srgbClr val="233248"/>
                </a:solidFill>
                <a:latin typeface="Avenir Next"/>
              </a:defRPr>
            </a:pPr>
            <a:r>
              <a:t>Classes: 10.</a:t>
            </a:r>
          </a:p>
          <a:p>
            <a:pPr>
              <a:lnSpc>
                <a:spcPct val="115000"/>
              </a:lnSpc>
              <a:spcAft>
                <a:spcPts val="600"/>
              </a:spcAft>
              <a:defRPr sz="1400">
                <a:solidFill>
                  <a:srgbClr val="233248"/>
                </a:solidFill>
                <a:latin typeface="Avenir Next"/>
              </a:defRPr>
            </a:pPr>
            <a:r>
              <a:t>Average raw point count above 20k.</a:t>
            </a:r>
          </a:p>
        </p:txBody>
      </p:sp>
      <p:sp>
        <p:nvSpPr>
          <p:cNvPr id="18" name="Rectangle 17"/>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0" name="TextBox 19"/>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13/16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Results</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3D MNIST Results</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clean same-setting comparison between baseline and attn-v2</a:t>
            </a:r>
          </a:p>
        </p:txBody>
      </p:sp>
      <p:sp>
        <p:nvSpPr>
          <p:cNvPr id="6" name="Rounded Rectangle 5"/>
          <p:cNvSpPr/>
          <p:nvPr/>
        </p:nvSpPr>
        <p:spPr>
          <a:xfrm>
            <a:off x="73152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2048256" cy="475488"/>
          </a:xfrm>
          <a:prstGeom prst="rect">
            <a:avLst/>
          </a:prstGeom>
          <a:noFill/>
        </p:spPr>
        <p:txBody>
          <a:bodyPr wrap="none">
            <a:spAutoFit/>
          </a:bodyPr>
          <a:lstStyle/>
          <a:p>
            <a:pPr>
              <a:defRPr b="1" sz="2800">
                <a:solidFill>
                  <a:srgbClr val="122747"/>
                </a:solidFill>
                <a:latin typeface="Avenir Next"/>
              </a:defRPr>
            </a:pPr>
            <a:r>
              <a:t>98.611%</a:t>
            </a:r>
          </a:p>
        </p:txBody>
      </p:sp>
      <p:sp>
        <p:nvSpPr>
          <p:cNvPr id="8" name="TextBox 7"/>
          <p:cNvSpPr txBox="1"/>
          <p:nvPr/>
        </p:nvSpPr>
        <p:spPr>
          <a:xfrm>
            <a:off x="896112" y="2487168"/>
            <a:ext cx="2048256" cy="347472"/>
          </a:xfrm>
          <a:prstGeom prst="rect">
            <a:avLst/>
          </a:prstGeom>
          <a:noFill/>
        </p:spPr>
        <p:txBody>
          <a:bodyPr wrap="none">
            <a:spAutoFit/>
          </a:bodyPr>
          <a:lstStyle/>
          <a:p>
            <a:pPr>
              <a:defRPr sz="1300">
                <a:solidFill>
                  <a:srgbClr val="233248"/>
                </a:solidFill>
                <a:latin typeface="Avenir Next"/>
              </a:defRPr>
            </a:pPr>
            <a:r>
              <a:t>Baseline best instance acc</a:t>
            </a:r>
          </a:p>
        </p:txBody>
      </p:sp>
      <p:sp>
        <p:nvSpPr>
          <p:cNvPr id="9" name="Rounded Rectangle 8"/>
          <p:cNvSpPr/>
          <p:nvPr/>
        </p:nvSpPr>
        <p:spPr>
          <a:xfrm>
            <a:off x="329184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965960"/>
            <a:ext cx="2048256" cy="475488"/>
          </a:xfrm>
          <a:prstGeom prst="rect">
            <a:avLst/>
          </a:prstGeom>
          <a:noFill/>
        </p:spPr>
        <p:txBody>
          <a:bodyPr wrap="none">
            <a:spAutoFit/>
          </a:bodyPr>
          <a:lstStyle/>
          <a:p>
            <a:pPr>
              <a:defRPr b="1" sz="2800">
                <a:solidFill>
                  <a:srgbClr val="122747"/>
                </a:solidFill>
                <a:latin typeface="Avenir Next"/>
              </a:defRPr>
            </a:pPr>
            <a:r>
              <a:t>98.623%</a:t>
            </a:r>
          </a:p>
        </p:txBody>
      </p:sp>
      <p:sp>
        <p:nvSpPr>
          <p:cNvPr id="11" name="TextBox 10"/>
          <p:cNvSpPr txBox="1"/>
          <p:nvPr/>
        </p:nvSpPr>
        <p:spPr>
          <a:xfrm>
            <a:off x="3456432" y="2487168"/>
            <a:ext cx="2048256" cy="347472"/>
          </a:xfrm>
          <a:prstGeom prst="rect">
            <a:avLst/>
          </a:prstGeom>
          <a:noFill/>
        </p:spPr>
        <p:txBody>
          <a:bodyPr wrap="none">
            <a:spAutoFit/>
          </a:bodyPr>
          <a:lstStyle/>
          <a:p>
            <a:pPr>
              <a:defRPr sz="1300">
                <a:solidFill>
                  <a:srgbClr val="233248"/>
                </a:solidFill>
                <a:latin typeface="Avenir Next"/>
              </a:defRPr>
            </a:pPr>
            <a:r>
              <a:t>Baseline best class acc</a:t>
            </a:r>
          </a:p>
        </p:txBody>
      </p:sp>
      <p:sp>
        <p:nvSpPr>
          <p:cNvPr id="12" name="Rounded Rectangle 11"/>
          <p:cNvSpPr/>
          <p:nvPr/>
        </p:nvSpPr>
        <p:spPr>
          <a:xfrm>
            <a:off x="598932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965960"/>
            <a:ext cx="2048256" cy="475488"/>
          </a:xfrm>
          <a:prstGeom prst="rect">
            <a:avLst/>
          </a:prstGeom>
          <a:noFill/>
        </p:spPr>
        <p:txBody>
          <a:bodyPr wrap="none">
            <a:spAutoFit/>
          </a:bodyPr>
          <a:lstStyle/>
          <a:p>
            <a:pPr>
              <a:defRPr b="1" sz="2800">
                <a:solidFill>
                  <a:srgbClr val="0078D4"/>
                </a:solidFill>
                <a:latin typeface="Avenir Next"/>
              </a:defRPr>
            </a:pPr>
            <a:r>
              <a:t>98.710%</a:t>
            </a:r>
          </a:p>
        </p:txBody>
      </p:sp>
      <p:sp>
        <p:nvSpPr>
          <p:cNvPr id="14" name="TextBox 13"/>
          <p:cNvSpPr txBox="1"/>
          <p:nvPr/>
        </p:nvSpPr>
        <p:spPr>
          <a:xfrm>
            <a:off x="6153912" y="2487168"/>
            <a:ext cx="2048256" cy="347472"/>
          </a:xfrm>
          <a:prstGeom prst="rect">
            <a:avLst/>
          </a:prstGeom>
          <a:noFill/>
        </p:spPr>
        <p:txBody>
          <a:bodyPr wrap="none">
            <a:spAutoFit/>
          </a:bodyPr>
          <a:lstStyle/>
          <a:p>
            <a:pPr>
              <a:defRPr sz="1300">
                <a:solidFill>
                  <a:srgbClr val="233248"/>
                </a:solidFill>
                <a:latin typeface="Avenir Next"/>
              </a:defRPr>
            </a:pPr>
            <a:r>
              <a:t>attn-v2 best instance acc</a:t>
            </a:r>
          </a:p>
        </p:txBody>
      </p:sp>
      <p:sp>
        <p:nvSpPr>
          <p:cNvPr id="15" name="TextBox 14"/>
          <p:cNvSpPr txBox="1"/>
          <p:nvPr/>
        </p:nvSpPr>
        <p:spPr>
          <a:xfrm>
            <a:off x="6153912" y="2807208"/>
            <a:ext cx="2048256" cy="256032"/>
          </a:xfrm>
          <a:prstGeom prst="rect">
            <a:avLst/>
          </a:prstGeom>
          <a:noFill/>
        </p:spPr>
        <p:txBody>
          <a:bodyPr wrap="none">
            <a:spAutoFit/>
          </a:bodyPr>
          <a:lstStyle/>
          <a:p>
            <a:pPr>
              <a:defRPr sz="1200">
                <a:solidFill>
                  <a:srgbClr val="198754"/>
                </a:solidFill>
                <a:latin typeface="Avenir Next"/>
              </a:defRPr>
            </a:pPr>
            <a:r>
              <a:t>+0.099 vs baseline</a:t>
            </a:r>
          </a:p>
        </p:txBody>
      </p:sp>
      <p:sp>
        <p:nvSpPr>
          <p:cNvPr id="16" name="Rounded Rectangle 15"/>
          <p:cNvSpPr/>
          <p:nvPr/>
        </p:nvSpPr>
        <p:spPr>
          <a:xfrm>
            <a:off x="8549640" y="1828800"/>
            <a:ext cx="2377440" cy="146304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14232" y="1965960"/>
            <a:ext cx="2048256" cy="475488"/>
          </a:xfrm>
          <a:prstGeom prst="rect">
            <a:avLst/>
          </a:prstGeom>
          <a:noFill/>
        </p:spPr>
        <p:txBody>
          <a:bodyPr wrap="none">
            <a:spAutoFit/>
          </a:bodyPr>
          <a:lstStyle/>
          <a:p>
            <a:pPr>
              <a:defRPr b="1" sz="2800">
                <a:solidFill>
                  <a:srgbClr val="198754"/>
                </a:solidFill>
                <a:latin typeface="Avenir Next"/>
              </a:defRPr>
            </a:pPr>
            <a:r>
              <a:t>98.939%</a:t>
            </a:r>
          </a:p>
        </p:txBody>
      </p:sp>
      <p:sp>
        <p:nvSpPr>
          <p:cNvPr id="18" name="TextBox 17"/>
          <p:cNvSpPr txBox="1"/>
          <p:nvPr/>
        </p:nvSpPr>
        <p:spPr>
          <a:xfrm>
            <a:off x="8714232" y="2487168"/>
            <a:ext cx="2048256" cy="347472"/>
          </a:xfrm>
          <a:prstGeom prst="rect">
            <a:avLst/>
          </a:prstGeom>
          <a:noFill/>
        </p:spPr>
        <p:txBody>
          <a:bodyPr wrap="none">
            <a:spAutoFit/>
          </a:bodyPr>
          <a:lstStyle/>
          <a:p>
            <a:pPr>
              <a:defRPr sz="1300">
                <a:solidFill>
                  <a:srgbClr val="233248"/>
                </a:solidFill>
                <a:latin typeface="Avenir Next"/>
              </a:defRPr>
            </a:pPr>
            <a:r>
              <a:t>attn-v2 best class acc</a:t>
            </a:r>
          </a:p>
        </p:txBody>
      </p:sp>
      <p:sp>
        <p:nvSpPr>
          <p:cNvPr id="19" name="TextBox 18"/>
          <p:cNvSpPr txBox="1"/>
          <p:nvPr/>
        </p:nvSpPr>
        <p:spPr>
          <a:xfrm>
            <a:off x="8714232" y="2807208"/>
            <a:ext cx="2048256" cy="256032"/>
          </a:xfrm>
          <a:prstGeom prst="rect">
            <a:avLst/>
          </a:prstGeom>
          <a:noFill/>
        </p:spPr>
        <p:txBody>
          <a:bodyPr wrap="none">
            <a:spAutoFit/>
          </a:bodyPr>
          <a:lstStyle/>
          <a:p>
            <a:pPr>
              <a:defRPr sz="1200">
                <a:solidFill>
                  <a:srgbClr val="198754"/>
                </a:solidFill>
                <a:latin typeface="Avenir Next"/>
              </a:defRPr>
            </a:pPr>
            <a:r>
              <a:t>+0.316 vs baseline</a:t>
            </a:r>
          </a:p>
        </p:txBody>
      </p:sp>
      <p:graphicFrame>
        <p:nvGraphicFramePr>
          <p:cNvPr id="20" name="Chart 19"/>
          <p:cNvGraphicFramePr>
            <a:graphicFrameLocks noGrp="1"/>
          </p:cNvGraphicFramePr>
          <p:nvPr/>
        </p:nvGraphicFramePr>
        <p:xfrm>
          <a:off x="868680" y="3657600"/>
          <a:ext cx="5486400" cy="2286000"/>
        </p:xfrm>
        <a:graphic>
          <a:graphicData uri="http://schemas.openxmlformats.org/drawingml/2006/chart">
            <c:chart xmlns:c="http://schemas.openxmlformats.org/drawingml/2006/chart" r:id="rId2"/>
          </a:graphicData>
        </a:graphic>
      </p:graphicFrame>
      <p:sp>
        <p:nvSpPr>
          <p:cNvPr id="21" name="TextBox 20"/>
          <p:cNvSpPr txBox="1"/>
          <p:nvPr/>
        </p:nvSpPr>
        <p:spPr>
          <a:xfrm>
            <a:off x="6720840" y="3794760"/>
            <a:ext cx="4572000" cy="1828800"/>
          </a:xfrm>
          <a:prstGeom prst="rect">
            <a:avLst/>
          </a:prstGeom>
          <a:noFill/>
        </p:spPr>
        <p:txBody>
          <a:bodyPr wrap="square" lIns="50800" rIns="50800" anchor="t">
            <a:spAutoFit/>
          </a:bodyPr>
          <a:lstStyle/>
          <a:p>
            <a:pPr>
              <a:lnSpc>
                <a:spcPct val="118000"/>
              </a:lnSpc>
              <a:spcAft>
                <a:spcPts val="800"/>
              </a:spcAft>
              <a:defRPr sz="1700">
                <a:solidFill>
                  <a:srgbClr val="233248"/>
                </a:solidFill>
                <a:latin typeface="Avenir Next"/>
              </a:defRPr>
            </a:pPr>
            <a:r>
              <a:t>Baseline learns faster at the start.</a:t>
            </a:r>
          </a:p>
          <a:p>
            <a:pPr>
              <a:lnSpc>
                <a:spcPct val="118000"/>
              </a:lnSpc>
              <a:spcAft>
                <a:spcPts val="800"/>
              </a:spcAft>
              <a:defRPr sz="1700">
                <a:solidFill>
                  <a:srgbClr val="233248"/>
                </a:solidFill>
                <a:latin typeface="Avenir Next"/>
              </a:defRPr>
            </a:pPr>
            <a:r>
              <a:t>attn-v2 catches up gradually and ends slightly stronger on both best metrics.</a:t>
            </a:r>
          </a:p>
          <a:p>
            <a:pPr>
              <a:lnSpc>
                <a:spcPct val="118000"/>
              </a:lnSpc>
              <a:spcAft>
                <a:spcPts val="800"/>
              </a:spcAft>
              <a:defRPr sz="1700">
                <a:solidFill>
                  <a:srgbClr val="233248"/>
                </a:solidFill>
                <a:latin typeface="Avenir Next"/>
              </a:defRPr>
            </a:pPr>
            <a:r>
              <a:t>The gain is small, but it is consistent and class-aware.</a:t>
            </a:r>
          </a:p>
        </p:txBody>
      </p:sp>
      <p:sp>
        <p:nvSpPr>
          <p:cNvPr id="22" name="Rectangle 21"/>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24" name="TextBox 23"/>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14/16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Limitations</a:t>
            </a:r>
          </a:p>
        </p:txBody>
      </p:sp>
      <p:sp>
        <p:nvSpPr>
          <p:cNvPr id="4" name="TextBox 3"/>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Drawbacks and Future Work</a:t>
            </a:r>
          </a:p>
        </p:txBody>
      </p:sp>
      <p:sp>
        <p:nvSpPr>
          <p:cNvPr id="5" name="TextBox 4"/>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The final result is credible because the limitations are explicit</a:t>
            </a:r>
          </a:p>
        </p:txBody>
      </p:sp>
      <p:sp>
        <p:nvSpPr>
          <p:cNvPr id="6" name="Rounded Rectangle 5"/>
          <p:cNvSpPr/>
          <p:nvPr/>
        </p:nvSpPr>
        <p:spPr>
          <a:xfrm>
            <a:off x="731520" y="1828800"/>
            <a:ext cx="493776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4937760"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75104"/>
            <a:ext cx="4608576" cy="411480"/>
          </a:xfrm>
          <a:prstGeom prst="rect">
            <a:avLst/>
          </a:prstGeom>
          <a:noFill/>
        </p:spPr>
        <p:txBody>
          <a:bodyPr wrap="none">
            <a:spAutoFit/>
          </a:bodyPr>
          <a:lstStyle/>
          <a:p>
            <a:pPr>
              <a:defRPr b="1" sz="1800">
                <a:solidFill>
                  <a:srgbClr val="122747"/>
                </a:solidFill>
                <a:latin typeface="Avenir Next"/>
              </a:defRPr>
            </a:pPr>
            <a:r>
              <a:t>Drawbacks</a:t>
            </a:r>
          </a:p>
        </p:txBody>
      </p:sp>
      <p:sp>
        <p:nvSpPr>
          <p:cNvPr id="9" name="TextBox 8"/>
          <p:cNvSpPr txBox="1"/>
          <p:nvPr/>
        </p:nvSpPr>
        <p:spPr>
          <a:xfrm>
            <a:off x="896112" y="2340864"/>
            <a:ext cx="460857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attn-v2 does not beat the strongest local baseline on ModelNet40 instance accuracy.</a:t>
            </a:r>
          </a:p>
          <a:p>
            <a:pPr>
              <a:lnSpc>
                <a:spcPct val="115000"/>
              </a:lnSpc>
              <a:spcAft>
                <a:spcPts val="600"/>
              </a:spcAft>
              <a:defRPr sz="1400">
                <a:solidFill>
                  <a:srgbClr val="233248"/>
                </a:solidFill>
                <a:latin typeface="Avenir Next"/>
              </a:defRPr>
            </a:pPr>
            <a:r>
              <a:t>The parameter count is very high: 5.95M vs 1.48M for baseline.</a:t>
            </a:r>
          </a:p>
          <a:p>
            <a:pPr>
              <a:lnSpc>
                <a:spcPct val="115000"/>
              </a:lnSpc>
              <a:spcAft>
                <a:spcPts val="600"/>
              </a:spcAft>
              <a:defRPr sz="1400">
                <a:solidFill>
                  <a:srgbClr val="233248"/>
                </a:solidFill>
                <a:latin typeface="Avenir Next"/>
              </a:defRPr>
            </a:pPr>
            <a:r>
              <a:t>No full ablation and no multi-seed evaluation were run.</a:t>
            </a:r>
          </a:p>
          <a:p>
            <a:pPr>
              <a:lnSpc>
                <a:spcPct val="115000"/>
              </a:lnSpc>
              <a:spcAft>
                <a:spcPts val="600"/>
              </a:spcAft>
              <a:defRPr sz="1400">
                <a:solidFill>
                  <a:srgbClr val="233248"/>
                </a:solidFill>
                <a:latin typeface="Avenir Next"/>
              </a:defRPr>
            </a:pPr>
            <a:r>
              <a:t>3D MNIST is useful but not a strong realism benchmark.</a:t>
            </a:r>
          </a:p>
        </p:txBody>
      </p:sp>
      <p:sp>
        <p:nvSpPr>
          <p:cNvPr id="10" name="Rounded Rectangle 9"/>
          <p:cNvSpPr/>
          <p:nvPr/>
        </p:nvSpPr>
        <p:spPr>
          <a:xfrm>
            <a:off x="5943600" y="1828800"/>
            <a:ext cx="4572000" cy="3291840"/>
          </a:xfrm>
          <a:prstGeom prst="roundRect">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0" y="1828800"/>
            <a:ext cx="4572000" cy="73152"/>
          </a:xfrm>
          <a:prstGeom prst="rect">
            <a:avLst/>
          </a:prstGeom>
          <a:solidFill>
            <a:srgbClr val="1987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08192" y="1975104"/>
            <a:ext cx="4242816" cy="411480"/>
          </a:xfrm>
          <a:prstGeom prst="rect">
            <a:avLst/>
          </a:prstGeom>
          <a:noFill/>
        </p:spPr>
        <p:txBody>
          <a:bodyPr wrap="none">
            <a:spAutoFit/>
          </a:bodyPr>
          <a:lstStyle/>
          <a:p>
            <a:pPr>
              <a:defRPr b="1" sz="1800">
                <a:solidFill>
                  <a:srgbClr val="122747"/>
                </a:solidFill>
                <a:latin typeface="Avenir Next"/>
              </a:defRPr>
            </a:pPr>
            <a:r>
              <a:t>Recommended next steps</a:t>
            </a:r>
          </a:p>
        </p:txBody>
      </p:sp>
      <p:sp>
        <p:nvSpPr>
          <p:cNvPr id="13" name="TextBox 12"/>
          <p:cNvSpPr txBox="1"/>
          <p:nvPr/>
        </p:nvSpPr>
        <p:spPr>
          <a:xfrm>
            <a:off x="6108192" y="2340864"/>
            <a:ext cx="4242816" cy="2633472"/>
          </a:xfrm>
          <a:prstGeom prst="rect">
            <a:avLst/>
          </a:prstGeom>
          <a:noFill/>
        </p:spPr>
        <p:txBody>
          <a:bodyPr wrap="square">
            <a:spAutoFit/>
          </a:bodyPr>
          <a:lstStyle/>
          <a:p>
            <a:pPr>
              <a:lnSpc>
                <a:spcPct val="115000"/>
              </a:lnSpc>
              <a:spcAft>
                <a:spcPts val="600"/>
              </a:spcAft>
              <a:defRPr sz="1400">
                <a:solidFill>
                  <a:srgbClr val="233248"/>
                </a:solidFill>
                <a:latin typeface="Avenir Next"/>
              </a:defRPr>
            </a:pPr>
            <a:r>
              <a:t>Run same-batch-size controlled reruns on ModelNet40.</a:t>
            </a:r>
          </a:p>
          <a:p>
            <a:pPr>
              <a:lnSpc>
                <a:spcPct val="115000"/>
              </a:lnSpc>
              <a:spcAft>
                <a:spcPts val="600"/>
              </a:spcAft>
              <a:defRPr sz="1400">
                <a:solidFill>
                  <a:srgbClr val="233248"/>
                </a:solidFill>
                <a:latin typeface="Avenir Next"/>
              </a:defRPr>
            </a:pPr>
            <a:r>
              <a:t>Ablate masked attention, hybrid pooling, cross-level fusion, and classifier depth separately.</a:t>
            </a:r>
          </a:p>
          <a:p>
            <a:pPr>
              <a:lnSpc>
                <a:spcPct val="115000"/>
              </a:lnSpc>
              <a:spcAft>
                <a:spcPts val="600"/>
              </a:spcAft>
              <a:defRPr sz="1400">
                <a:solidFill>
                  <a:srgbClr val="233248"/>
                </a:solidFill>
                <a:latin typeface="Avenir Next"/>
              </a:defRPr>
            </a:pPr>
            <a:r>
              <a:t>Reduce the late-stage parameter cost in attention v2.</a:t>
            </a:r>
          </a:p>
          <a:p>
            <a:pPr>
              <a:lnSpc>
                <a:spcPct val="115000"/>
              </a:lnSpc>
              <a:spcAft>
                <a:spcPts val="600"/>
              </a:spcAft>
              <a:defRPr sz="1400">
                <a:solidFill>
                  <a:srgbClr val="233248"/>
                </a:solidFill>
                <a:latin typeface="Avenir Next"/>
              </a:defRPr>
            </a:pPr>
            <a:r>
              <a:t>Evaluate on a stronger second dataset such as ScanObjectNN.</a:t>
            </a:r>
          </a:p>
        </p:txBody>
      </p:sp>
      <p:sp>
        <p:nvSpPr>
          <p:cNvPr id="14" name="Rectangle 13"/>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6" name="TextBox 15"/>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15/16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777240"/>
            <a:ext cx="2926080" cy="2926080"/>
          </a:xfrm>
          <a:prstGeom prst="ellipse">
            <a:avLst/>
          </a:prstGeom>
          <a:solidFill>
            <a:srgbClr val="E9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22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6459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411480"/>
            <a:ext cx="1645920" cy="384048"/>
          </a:xfrm>
          <a:prstGeom prst="roundRect">
            <a:avLst/>
          </a:prstGeom>
          <a:solidFill>
            <a:srgbClr val="E9F2FB"/>
          </a:solidFill>
          <a:ln>
            <a:solidFill>
              <a:srgbClr val="E9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0078D4"/>
                </a:solidFill>
                <a:latin typeface="Avenir Next"/>
              </a:defRPr>
            </a:pPr>
            <a:r>
              <a:t>Takeaway</a:t>
            </a:r>
          </a:p>
        </p:txBody>
      </p:sp>
      <p:sp>
        <p:nvSpPr>
          <p:cNvPr id="6" name="TextBox 5"/>
          <p:cNvSpPr txBox="1"/>
          <p:nvPr/>
        </p:nvSpPr>
        <p:spPr>
          <a:xfrm>
            <a:off x="640080" y="868680"/>
            <a:ext cx="10972800" cy="731520"/>
          </a:xfrm>
          <a:prstGeom prst="rect">
            <a:avLst/>
          </a:prstGeom>
          <a:noFill/>
        </p:spPr>
        <p:txBody>
          <a:bodyPr wrap="square">
            <a:spAutoFit/>
          </a:bodyPr>
          <a:lstStyle/>
          <a:p>
            <a:pPr>
              <a:defRPr b="1" sz="3000">
                <a:solidFill>
                  <a:srgbClr val="122747"/>
                </a:solidFill>
                <a:latin typeface="Avenir Next"/>
              </a:defRPr>
            </a:pPr>
            <a:r>
              <a:t>Final Conclusion</a:t>
            </a:r>
          </a:p>
        </p:txBody>
      </p:sp>
      <p:sp>
        <p:nvSpPr>
          <p:cNvPr id="7" name="TextBox 6"/>
          <p:cNvSpPr txBox="1"/>
          <p:nvPr/>
        </p:nvSpPr>
        <p:spPr>
          <a:xfrm>
            <a:off x="658368" y="1481328"/>
            <a:ext cx="10241280" cy="457200"/>
          </a:xfrm>
          <a:prstGeom prst="rect">
            <a:avLst/>
          </a:prstGeom>
          <a:noFill/>
        </p:spPr>
        <p:txBody>
          <a:bodyPr wrap="none">
            <a:spAutoFit/>
          </a:bodyPr>
          <a:lstStyle/>
          <a:p>
            <a:pPr>
              <a:defRPr sz="1400">
                <a:solidFill>
                  <a:srgbClr val="57667A"/>
                </a:solidFill>
                <a:latin typeface="Avenir Next"/>
              </a:defRPr>
            </a:pPr>
            <a:r>
              <a:t>A balanced result is still a strong research outcome</a:t>
            </a:r>
          </a:p>
        </p:txBody>
      </p:sp>
      <p:sp>
        <p:nvSpPr>
          <p:cNvPr id="8" name="TextBox 7"/>
          <p:cNvSpPr txBox="1"/>
          <p:nvPr/>
        </p:nvSpPr>
        <p:spPr>
          <a:xfrm>
            <a:off x="731520" y="1874519"/>
            <a:ext cx="6583680" cy="2651760"/>
          </a:xfrm>
          <a:prstGeom prst="rect">
            <a:avLst/>
          </a:prstGeom>
          <a:noFill/>
        </p:spPr>
        <p:txBody>
          <a:bodyPr wrap="square" lIns="50800" rIns="50800" anchor="t">
            <a:spAutoFit/>
          </a:bodyPr>
          <a:lstStyle/>
          <a:p>
            <a:pPr>
              <a:lnSpc>
                <a:spcPct val="118000"/>
              </a:lnSpc>
              <a:spcAft>
                <a:spcPts val="800"/>
              </a:spcAft>
              <a:defRPr sz="1900">
                <a:solidFill>
                  <a:srgbClr val="233248"/>
                </a:solidFill>
                <a:latin typeface="Avenir Next"/>
              </a:defRPr>
            </a:pPr>
            <a:r>
              <a:t>The project delivered a stable Apple Silicon pipeline, a corrected attention model, and a reusable cross-dataset evaluation workflow.</a:t>
            </a:r>
          </a:p>
          <a:p>
            <a:pPr>
              <a:lnSpc>
                <a:spcPct val="118000"/>
              </a:lnSpc>
              <a:spcAft>
                <a:spcPts val="800"/>
              </a:spcAft>
              <a:defRPr sz="1900">
                <a:solidFill>
                  <a:srgbClr val="233248"/>
                </a:solidFill>
                <a:latin typeface="Avenir Next"/>
              </a:defRPr>
            </a:pPr>
            <a:r>
              <a:t>Attention v2 is clearly better than attention v1 and shows modest promise on a second dataset.</a:t>
            </a:r>
          </a:p>
          <a:p>
            <a:pPr>
              <a:lnSpc>
                <a:spcPct val="118000"/>
              </a:lnSpc>
              <a:spcAft>
                <a:spcPts val="800"/>
              </a:spcAft>
              <a:defRPr sz="1900">
                <a:solidFill>
                  <a:srgbClr val="233248"/>
                </a:solidFill>
                <a:latin typeface="Avenir Next"/>
              </a:defRPr>
            </a:pPr>
            <a:r>
              <a:t>However, the strongest PointNet++ SSG baseline remains the best ModelNet40 model in this project.</a:t>
            </a:r>
          </a:p>
        </p:txBody>
      </p:sp>
      <p:sp>
        <p:nvSpPr>
          <p:cNvPr id="9" name="Rounded Rectangle 8"/>
          <p:cNvSpPr/>
          <p:nvPr/>
        </p:nvSpPr>
        <p:spPr>
          <a:xfrm>
            <a:off x="7543800" y="1920240"/>
            <a:ext cx="3108960" cy="141732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2057400"/>
            <a:ext cx="2779776" cy="475488"/>
          </a:xfrm>
          <a:prstGeom prst="rect">
            <a:avLst/>
          </a:prstGeom>
          <a:noFill/>
        </p:spPr>
        <p:txBody>
          <a:bodyPr wrap="none">
            <a:spAutoFit/>
          </a:bodyPr>
          <a:lstStyle/>
          <a:p>
            <a:pPr>
              <a:defRPr b="1" sz="2800">
                <a:solidFill>
                  <a:srgbClr val="122747"/>
                </a:solidFill>
                <a:latin typeface="Avenir Next"/>
              </a:defRPr>
            </a:pPr>
            <a:r>
              <a:t>Honest result</a:t>
            </a:r>
          </a:p>
        </p:txBody>
      </p:sp>
      <p:sp>
        <p:nvSpPr>
          <p:cNvPr id="11" name="TextBox 10"/>
          <p:cNvSpPr txBox="1"/>
          <p:nvPr/>
        </p:nvSpPr>
        <p:spPr>
          <a:xfrm>
            <a:off x="7708392" y="2578608"/>
            <a:ext cx="2779776" cy="347472"/>
          </a:xfrm>
          <a:prstGeom prst="rect">
            <a:avLst/>
          </a:prstGeom>
          <a:noFill/>
        </p:spPr>
        <p:txBody>
          <a:bodyPr wrap="none">
            <a:spAutoFit/>
          </a:bodyPr>
          <a:lstStyle/>
          <a:p>
            <a:pPr>
              <a:defRPr sz="1300">
                <a:solidFill>
                  <a:srgbClr val="233248"/>
                </a:solidFill>
                <a:latin typeface="Avenir Next"/>
              </a:defRPr>
            </a:pPr>
            <a:r>
              <a:t>Better engineering and better diagnosis than a simple accuracy win</a:t>
            </a:r>
          </a:p>
        </p:txBody>
      </p:sp>
      <p:sp>
        <p:nvSpPr>
          <p:cNvPr id="12" name="Rounded Rectangle 11"/>
          <p:cNvSpPr/>
          <p:nvPr/>
        </p:nvSpPr>
        <p:spPr>
          <a:xfrm>
            <a:off x="7543800" y="3611880"/>
            <a:ext cx="3108960" cy="1417320"/>
          </a:xfrm>
          <a:prstGeom prst="roundRect">
            <a:avLst/>
          </a:prstGeom>
          <a:solidFill>
            <a:srgbClr val="F4F8FC"/>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3749040"/>
            <a:ext cx="2779776" cy="475488"/>
          </a:xfrm>
          <a:prstGeom prst="rect">
            <a:avLst/>
          </a:prstGeom>
          <a:noFill/>
        </p:spPr>
        <p:txBody>
          <a:bodyPr wrap="none">
            <a:spAutoFit/>
          </a:bodyPr>
          <a:lstStyle/>
          <a:p>
            <a:pPr>
              <a:defRPr b="1" sz="2800">
                <a:solidFill>
                  <a:srgbClr val="0078D4"/>
                </a:solidFill>
                <a:latin typeface="Avenir Next"/>
              </a:defRPr>
            </a:pPr>
            <a:r>
              <a:t>Presentation message</a:t>
            </a:r>
          </a:p>
        </p:txBody>
      </p:sp>
      <p:sp>
        <p:nvSpPr>
          <p:cNvPr id="14" name="TextBox 13"/>
          <p:cNvSpPr txBox="1"/>
          <p:nvPr/>
        </p:nvSpPr>
        <p:spPr>
          <a:xfrm>
            <a:off x="7708392" y="4270248"/>
            <a:ext cx="2779776" cy="347472"/>
          </a:xfrm>
          <a:prstGeom prst="rect">
            <a:avLst/>
          </a:prstGeom>
          <a:noFill/>
        </p:spPr>
        <p:txBody>
          <a:bodyPr wrap="none">
            <a:spAutoFit/>
          </a:bodyPr>
          <a:lstStyle/>
          <a:p>
            <a:pPr>
              <a:defRPr sz="1300">
                <a:solidFill>
                  <a:srgbClr val="233248"/>
                </a:solidFill>
                <a:latin typeface="Avenir Next"/>
              </a:defRPr>
            </a:pPr>
            <a:r>
              <a:t>A full research cycle: hypothesis, failure analysis, redesign, validation</a:t>
            </a:r>
          </a:p>
        </p:txBody>
      </p:sp>
      <p:sp>
        <p:nvSpPr>
          <p:cNvPr id="15" name="Rectangle 14"/>
          <p:cNvSpPr/>
          <p:nvPr/>
        </p:nvSpPr>
        <p:spPr>
          <a:xfrm>
            <a:off x="548640" y="6455664"/>
            <a:ext cx="11064240" cy="9144"/>
          </a:xfrm>
          <a:prstGeom prst="rect">
            <a:avLst/>
          </a:prstGeom>
          <a:solidFill>
            <a:srgbClr val="D8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73952"/>
            <a:ext cx="7315200" cy="228600"/>
          </a:xfrm>
          <a:prstGeom prst="rect">
            <a:avLst/>
          </a:prstGeom>
          <a:noFill/>
        </p:spPr>
        <p:txBody>
          <a:bodyPr wrap="none">
            <a:spAutoFit/>
          </a:bodyPr>
          <a:lstStyle/>
          <a:p>
            <a:pPr>
              <a:defRPr sz="1000">
                <a:solidFill>
                  <a:srgbClr val="57667A"/>
                </a:solidFill>
                <a:latin typeface="Avenir Next"/>
              </a:defRPr>
            </a:pPr>
            <a:r>
              <a:t>PointNet++ Attention Enhancement</a:t>
            </a:r>
          </a:p>
        </p:txBody>
      </p:sp>
      <p:sp>
        <p:nvSpPr>
          <p:cNvPr id="17" name="TextBox 16"/>
          <p:cNvSpPr txBox="1"/>
          <p:nvPr/>
        </p:nvSpPr>
        <p:spPr>
          <a:xfrm>
            <a:off x="11064240" y="6446520"/>
            <a:ext cx="548640" cy="228600"/>
          </a:xfrm>
          <a:prstGeom prst="rect">
            <a:avLst/>
          </a:prstGeom>
          <a:noFill/>
        </p:spPr>
        <p:txBody>
          <a:bodyPr wrap="none">
            <a:spAutoFit/>
          </a:bodyPr>
          <a:lstStyle/>
          <a:p>
            <a:pPr algn="r">
              <a:defRPr sz="1000">
                <a:solidFill>
                  <a:srgbClr val="57667A"/>
                </a:solidFill>
                <a:latin typeface="Avenir Next"/>
              </a:defRPr>
            </a:pPr>
            <a:r>
              <a:t>16/16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