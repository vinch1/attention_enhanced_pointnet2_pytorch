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/>
    <p:restoredTop sz="94714"/>
  </p:normalViewPr>
  <p:slideViewPr>
    <p:cSldViewPr snapToGrid="0" snapToObjects="1">
      <p:cViewPr>
        <p:scale>
          <a:sx n="82" d="100"/>
          <a:sy n="82" d="100"/>
        </p:scale>
        <p:origin x="-88" y="1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Instance Accuracy</c:v>
                </c:pt>
              </c:strCache>
            </c:strRef>
          </c:tx>
          <c:spPr>
            <a:solidFill>
              <a:srgbClr val="0078D4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SE</c:v>
                </c:pt>
                <c:pt idx="2">
                  <c:v>attn-v1</c:v>
                </c:pt>
                <c:pt idx="3">
                  <c:v>attn-v2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92.459000000000003</c:v>
                </c:pt>
                <c:pt idx="1">
                  <c:v>91.975999999999999</c:v>
                </c:pt>
                <c:pt idx="2">
                  <c:v>91.391999999999996</c:v>
                </c:pt>
                <c:pt idx="3">
                  <c:v>92.055999999999997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44-664F-BFBA-E7653A3F58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Accuracy</c:v>
                </c:pt>
              </c:strCache>
            </c:strRef>
          </c:tx>
          <c:spPr>
            <a:solidFill>
              <a:srgbClr val="5197F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SE</c:v>
                </c:pt>
                <c:pt idx="2">
                  <c:v>attn-v1</c:v>
                </c:pt>
                <c:pt idx="3">
                  <c:v>attn-v2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89.174999999999997</c:v>
                </c:pt>
                <c:pt idx="1">
                  <c:v>89.626000000000005</c:v>
                </c:pt>
                <c:pt idx="2">
                  <c:v>86.230999999999995</c:v>
                </c:pt>
                <c:pt idx="3">
                  <c:v>89.596999999999994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744-664F-BFBA-E7653A3F5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8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31750">
              <a:solidFill>
                <a:srgbClr val="122747"/>
              </a:solidFill>
            </a:ln>
          </c:spP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  <c:pt idx="5">
                  <c:v>60</c:v>
                </c:pt>
                <c:pt idx="6">
                  <c:v>80</c:v>
                </c:pt>
                <c:pt idx="7">
                  <c:v>100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71.725999999999999</c:v>
                </c:pt>
                <c:pt idx="1">
                  <c:v>87.599000000000004</c:v>
                </c:pt>
                <c:pt idx="2">
                  <c:v>83.631</c:v>
                </c:pt>
                <c:pt idx="3">
                  <c:v>94.245999999999995</c:v>
                </c:pt>
                <c:pt idx="4">
                  <c:v>96.626999999999995</c:v>
                </c:pt>
                <c:pt idx="5">
                  <c:v>98.611000000000004</c:v>
                </c:pt>
                <c:pt idx="6">
                  <c:v>98.016000000000005</c:v>
                </c:pt>
                <c:pt idx="7">
                  <c:v>98.611000000000004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C-D54B-B5C8-A16BD28DAC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attn-v2</c:v>
                </c:pt>
              </c:strCache>
            </c:strRef>
          </c:tx>
          <c:spPr>
            <a:ln w="31750">
              <a:solidFill>
                <a:srgbClr val="0078D4"/>
              </a:solidFill>
            </a:ln>
          </c:spP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  <c:pt idx="5">
                  <c:v>60</c:v>
                </c:pt>
                <c:pt idx="6">
                  <c:v>80</c:v>
                </c:pt>
                <c:pt idx="7">
                  <c:v>100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37.798000000000002</c:v>
                </c:pt>
                <c:pt idx="1">
                  <c:v>89.683000000000007</c:v>
                </c:pt>
                <c:pt idx="2">
                  <c:v>89.582999999999998</c:v>
                </c:pt>
                <c:pt idx="3">
                  <c:v>95.138999999999996</c:v>
                </c:pt>
                <c:pt idx="4">
                  <c:v>97.718000000000004</c:v>
                </c:pt>
                <c:pt idx="5">
                  <c:v>98.313000000000002</c:v>
                </c:pt>
                <c:pt idx="6">
                  <c:v>98.114999999999995</c:v>
                </c:pt>
                <c:pt idx="7">
                  <c:v>98.512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C-D54B-B5C8-A16BD28DA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3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7860" y="0"/>
            <a:ext cx="4784140" cy="68177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40" y="-38527"/>
            <a:ext cx="4268177" cy="109960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7239" y="1950207"/>
            <a:ext cx="10340499" cy="66492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>
              <a:defRPr sz="3400" b="1">
                <a:solidFill>
                  <a:srgbClr val="122747"/>
                </a:solidFill>
                <a:latin typeface="Avenir Next"/>
              </a:defRPr>
            </a:pPr>
            <a:r>
              <a:rPr lang="en-US" sz="4000" dirty="0" err="1"/>
              <a:t>PointNet</a:t>
            </a:r>
            <a:r>
              <a:rPr lang="en-US" sz="4000" dirty="0"/>
              <a:t>++ Attention Enhancement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4318605"/>
              </p:ext>
            </p:extLst>
          </p:nvPr>
        </p:nvGraphicFramePr>
        <p:xfrm>
          <a:off x="3674745" y="4132580"/>
          <a:ext cx="3909060" cy="72771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68580" algn="l">
                        <a:lnSpc>
                          <a:spcPct val="107000"/>
                        </a:lnSpc>
                        <a:spcBef>
                          <a:spcPts val="110"/>
                        </a:spcBef>
                        <a:buNone/>
                      </a:pPr>
                      <a:r>
                        <a:rPr lang="en-US" sz="1200" spc="-20" dirty="0">
                          <a:effectLst/>
                        </a:rPr>
                        <a:t>Name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l">
                        <a:lnSpc>
                          <a:spcPct val="107000"/>
                        </a:lnSpc>
                        <a:spcBef>
                          <a:spcPts val="110"/>
                        </a:spcBef>
                        <a:buNone/>
                      </a:pPr>
                      <a:r>
                        <a:rPr lang="en-US" sz="1200" spc="-40" dirty="0">
                          <a:effectLst/>
                        </a:rPr>
                        <a:t>Student</a:t>
                      </a:r>
                      <a:r>
                        <a:rPr lang="en-US" sz="1200" spc="-35" dirty="0">
                          <a:effectLst/>
                        </a:rPr>
                        <a:t> </a:t>
                      </a:r>
                      <a:r>
                        <a:rPr lang="en-US" sz="1200" spc="-25" dirty="0">
                          <a:effectLst/>
                        </a:rPr>
                        <a:t>ID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68580" marR="0" lvl="0" indent="0" algn="ctr" defTabSz="914400" rtl="0" eaLnBrk="1" fontAlgn="auto" latinLnBrk="0" hangingPunct="1">
                        <a:lnSpc>
                          <a:spcPct val="97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JIANG Yuchen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7310" algn="l">
                        <a:lnSpc>
                          <a:spcPct val="97000"/>
                        </a:lnSpc>
                        <a:spcBef>
                          <a:spcPts val="160"/>
                        </a:spcBef>
                        <a:buNone/>
                      </a:pPr>
                      <a:r>
                        <a:rPr lang="en-US" sz="1200" spc="-10" dirty="0">
                          <a:effectLst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59617983</a:t>
                      </a:r>
                      <a:endParaRPr lang="en-US" sz="1400" spc="-1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799205" y="6217920"/>
            <a:ext cx="329184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en-US" altLang="zh-CN" sz="1400" b="1" i="1" kern="100" dirty="0">
                <a:solidFill>
                  <a:sysClr val="windowText" lastClr="000000"/>
                </a:solidFill>
                <a:latin typeface="Calibri" panose="020F0502020204030204"/>
                <a:ea typeface="微软雅黑" panose="020B0503020204020204" pitchFamily="34" charset="-122"/>
              </a:rPr>
              <a:t>CS</a:t>
            </a:r>
            <a:r>
              <a:rPr kumimoji="0" lang="en-US" altLang="zh-CN" sz="1400" b="1" i="1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rPr>
              <a:t>5182:Computer Graphic</a:t>
            </a: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rPr>
              <a:t>Semester B 2025/26</a:t>
            </a:r>
            <a:endParaRPr kumimoji="0" lang="zh-CN" altLang="zh-CN" sz="1400" b="1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9775" y="3429000"/>
            <a:ext cx="76765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600" b="0" i="1" dirty="0">
                <a:solidFill>
                  <a:srgbClr val="B31616"/>
                </a:solidFill>
                <a:latin typeface="Aptos"/>
                <a:ea typeface="Aptos"/>
              </a:rPr>
              <a:t>Benchmark Reproduction, Cross-Dataset Evaluation, and Lightweight Improvement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Two parallel threads shaped the final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6960" y="1828800"/>
            <a:ext cx="347472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46960" y="1828800"/>
            <a:ext cx="347472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85237" y="1975104"/>
            <a:ext cx="21981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Architecture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1552" y="2340864"/>
            <a:ext cx="3145536" cy="1724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Start from PointNet++ SSG as the baseline.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Explore SE blocks, local attention pooling, and cross-level fusion.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Diagnose the failure of attention v1 and redesign it into attention v2.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4560" y="1828800"/>
            <a:ext cx="338328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04560" y="1828800"/>
            <a:ext cx="338328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5295" y="1975104"/>
            <a:ext cx="1221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9152" y="2340864"/>
            <a:ext cx="3054096" cy="197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 stable Mac-compatible codebase.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 corrected attention model that is much stronger than the first attempt.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 second-dataset evaluation pipeline on 3D MNIST.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Baseline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PointNet++ SSG classification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19456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21945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66544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SA1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32304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512 points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radius 0.2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32 neighbors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64 -&gt; 64 -&gt; 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19456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920240"/>
            <a:ext cx="219456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2066544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SA2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432304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128 points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radius 0.4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64 neighbors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128 -&gt; 128 -&gt; 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920240"/>
            <a:ext cx="219456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920240"/>
            <a:ext cx="21945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2066544"/>
            <a:ext cx="18653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SA3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432304"/>
            <a:ext cx="18653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Global grouping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256 -&gt; 512 -&gt; 1024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single global descriptor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920240"/>
            <a:ext cx="228600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920240"/>
            <a:ext cx="2286000" cy="73152"/>
          </a:xfrm>
          <a:prstGeom prst="rect">
            <a:avLst/>
          </a:prstGeom>
          <a:solidFill>
            <a:srgbClr val="12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2066544"/>
            <a:ext cx="1956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432304"/>
            <a:ext cx="195681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1024 -&gt; 512 -&gt; 256 -&gt; class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standard PointNet++ SSG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10515600" cy="118872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233248"/>
                </a:solidFill>
                <a:latin typeface="Avenir Next"/>
              </a:defRPr>
            </a:pPr>
            <a:r>
              <a:t>This baseline is already strong on ModelNet40, so the real target is not only to beat the original paper, but to beat a strong local retrain.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Optimization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What each model variant tried to improve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651760" cy="73152"/>
          </a:xfrm>
          <a:prstGeom prst="rect">
            <a:avLst/>
          </a:prstGeom>
          <a:solidFill>
            <a:srgbClr val="12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23225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Pure PointNet++ SSG.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Strong local hierarchy.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Reference model for all later comparisons.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6517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SE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340864"/>
            <a:ext cx="23225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Add channel attention after SA1 and SA2.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Deepen the classifier.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Goal: better channel discrimination and class 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5176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Attention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340864"/>
            <a:ext cx="23225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Replace max pooling with local attention pooling.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Fuse l1, l2, l3 with cross-level attention.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Goal: richer local weighting and multi-scale fusion.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2880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2600" y="1828800"/>
            <a:ext cx="205740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975104"/>
            <a:ext cx="1728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Attention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340864"/>
            <a:ext cx="172821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Masked local attention.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Hybrid attention + max pooling.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CLS-token fusion plus global residual.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Stronger nonlinear classifier.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Why SE Was Introduced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Channel recalibration plus a stronger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274320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233248"/>
                </a:solidFill>
                <a:latin typeface="Avenir Next"/>
              </a:defRPr>
            </a:pPr>
            <a:r>
              <a:t>SE stands for Squeeze-and-Excitation. The block globally averages each feature channel, learns a channel importance vector, and rescales the original features.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800">
                <a:solidFill>
                  <a:srgbClr val="233248"/>
                </a:solidFill>
                <a:latin typeface="Avenir Next"/>
              </a:defRPr>
            </a:pPr>
            <a:r>
              <a:t>The intuition is simple: not every feature channel contributes equally to classification, so the network should emphasize informative channels and suppress weaker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05740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965960"/>
            <a:ext cx="1728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  <a:latin typeface="Avenir Next"/>
              </a:defRPr>
            </a:pPr>
            <a:r>
              <a:t>91.976%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487168"/>
            <a:ext cx="1728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SE best instance acc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205740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1392" y="1965960"/>
            <a:ext cx="1781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8754"/>
                </a:solidFill>
                <a:latin typeface="Avenir Next"/>
              </a:defRPr>
            </a:pPr>
            <a:r>
              <a:rPr dirty="0"/>
              <a:t>89.</a:t>
            </a:r>
            <a:r>
              <a:rPr lang="en-US" altLang="zh-CN" dirty="0"/>
              <a:t>5</a:t>
            </a:r>
            <a:r>
              <a:rPr dirty="0"/>
              <a:t>26%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2487168"/>
            <a:ext cx="17282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SE best class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520440"/>
            <a:ext cx="4572000" cy="118872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233248"/>
                </a:solidFill>
                <a:latin typeface="Avenir Next"/>
              </a:defRPr>
            </a:pPr>
            <a:r>
              <a:t>Result: SE improved class accuracy over baseline, but it did not surpass baseline on instance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Why Attention v1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The first attention design was conceptually interesting but technically flawed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290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970532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rPr dirty="0"/>
              <a:t>Problem 1: invalid local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309981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PointNet++ radius grouping duplicates the first valid neighbor when padding.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This is safe for max pooling.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It is not safe for softmax attention because fake duplicates collect probability mass.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73152"/>
          </a:xfrm>
          <a:prstGeom prst="rect">
            <a:avLst/>
          </a:prstGeom>
          <a:solidFill>
            <a:srgbClr val="D79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340864"/>
            <a:ext cx="309981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Each hierarchy level was reduced to a single mean-pooled token.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The attended tokens were then averaged again.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Too much structure was discarded before attention could help.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4290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54609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rPr dirty="0"/>
              <a:t>Problem 3: weak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40864"/>
            <a:ext cx="309981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The post-fusion classifier behaved too close to a shallow linear head.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There was not enough nonlinear capacity to exploit the fused representation.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212080"/>
            <a:ext cx="3429000" cy="9144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5349240"/>
            <a:ext cx="30998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0392B"/>
                </a:solidFill>
                <a:latin typeface="Avenir Next"/>
              </a:defRPr>
            </a:pPr>
            <a:r>
              <a:t>91.392% / 86.231%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5870448"/>
            <a:ext cx="30998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Best ModelNet40 result of attention v1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954609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rPr dirty="0"/>
              <a:t>Problem 2: over-compressed 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attn-v2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Attention v2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A corrected architecture, not just a larger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5176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6517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Masked local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232257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Return explicit validity masks from grouping.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Normalize softmax only over valid neighbors.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65176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65176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Hybrid local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340864"/>
            <a:ext cx="232257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Fuse attention pooling with max pooling.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Keep PointNet++ robustness while adding learnable weighting.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65176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5176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1975104"/>
            <a:ext cx="2322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Cross-level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340864"/>
            <a:ext cx="232257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Use mean and max summaries.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Add a CLS token and a global residual path from l3.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28800"/>
            <a:ext cx="2057400" cy="29260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2600" y="1828800"/>
            <a:ext cx="2057400" cy="73152"/>
          </a:xfrm>
          <a:prstGeom prst="rect">
            <a:avLst/>
          </a:prstGeom>
          <a:solidFill>
            <a:srgbClr val="12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975104"/>
            <a:ext cx="1728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340864"/>
            <a:ext cx="172821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Wider nonlinear head.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512 -&gt; 256 -&gt; 128 -&gt;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233248"/>
                </a:solidFill>
                <a:latin typeface="Avenir Next"/>
              </a:defRPr>
            </a:pPr>
            <a:r>
              <a:t>Result: attention v2 recovered most of the performance lost by attention v1 and strongly improved class balance.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Engineering and Logging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The project became reproducible, not just runnable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52044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Platform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3191256" cy="115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Automatic MPS / CUDA / CPU device selection.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Safer index handling and masking on Apple Silicon.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52044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975104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Dataset-aware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40864"/>
            <a:ext cx="319125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 unified train script now supports ModelNet40, ModelNet10, and 3D MNIST.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The evaluation script can reuse run configuration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975104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Persistent experiment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40864"/>
            <a:ext cx="305409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run_config.json for exact arguments and environment.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metrics.csv for per-epoch curves.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summary.json for the best final result.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Exact code snapshots copied into each run directory.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Experimental Setup and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What was measured and 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7261" y="2117811"/>
            <a:ext cx="3690851" cy="3072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7260" y="1979820"/>
            <a:ext cx="3690851" cy="45719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2101" y="2291547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rPr dirty="0"/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9650" y="2630996"/>
            <a:ext cx="3850456" cy="339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accuracy: percentage of correctly classified test samples.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accuracy: average of per-class accuracies.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accuracy, learning rate, and global step logged per epoch.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7329AC-1B3B-56D7-816F-AA22461F3CA4}"/>
              </a:ext>
            </a:extLst>
          </p:cNvPr>
          <p:cNvSpPr/>
          <p:nvPr/>
        </p:nvSpPr>
        <p:spPr>
          <a:xfrm>
            <a:off x="1407621" y="2117811"/>
            <a:ext cx="3690851" cy="3072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5804C2-87AF-FF86-877A-BA793880F490}"/>
              </a:ext>
            </a:extLst>
          </p:cNvPr>
          <p:cNvSpPr/>
          <p:nvPr/>
        </p:nvSpPr>
        <p:spPr>
          <a:xfrm>
            <a:off x="1407620" y="1979820"/>
            <a:ext cx="3690851" cy="45719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2CAFB5-55A6-FDC7-A05D-E98FFE706E16}"/>
              </a:ext>
            </a:extLst>
          </p:cNvPr>
          <p:cNvSpPr txBox="1"/>
          <p:nvPr/>
        </p:nvSpPr>
        <p:spPr>
          <a:xfrm>
            <a:off x="1472461" y="2291547"/>
            <a:ext cx="8386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rPr lang="en-US" dirty="0"/>
              <a:t>Setup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17A1D9-2165-37E6-9763-F9624CC89B5C}"/>
              </a:ext>
            </a:extLst>
          </p:cNvPr>
          <p:cNvSpPr txBox="1"/>
          <p:nvPr/>
        </p:nvSpPr>
        <p:spPr>
          <a:xfrm>
            <a:off x="1407620" y="2667570"/>
            <a:ext cx="3850456" cy="288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Optimizer,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learning rate 0.001, 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StepLR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scheduling, 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normal vector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ModelNet40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The local baseline remains the strongest top-line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95093"/>
              </p:ext>
            </p:extLst>
          </p:nvPr>
        </p:nvGraphicFramePr>
        <p:xfrm>
          <a:off x="640080" y="173736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2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Best Inst.</a:t>
                      </a:r>
                    </a:p>
                  </a:txBody>
                  <a:tcPr>
                    <a:solidFill>
                      <a:srgbClr val="12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Best Class</a:t>
                      </a:r>
                    </a:p>
                  </a:txBody>
                  <a:tcPr>
                    <a:solidFill>
                      <a:srgbClr val="12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venir Next"/>
                        </a:defRPr>
                      </a:pPr>
                      <a:r>
                        <a:t>Best Epoch</a:t>
                      </a:r>
                    </a:p>
                  </a:txBody>
                  <a:tcPr>
                    <a:solidFill>
                      <a:srgbClr val="12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rPr dirty="0">
                          <a:highlight>
                            <a:srgbClr val="FFFF00"/>
                          </a:highlight>
                        </a:rPr>
                        <a:t>92.459%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89.175%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91.976%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rPr dirty="0"/>
                        <a:t>89.</a:t>
                      </a:r>
                      <a:r>
                        <a:rPr lang="en-US" altLang="zh-CN" dirty="0"/>
                        <a:t>5</a:t>
                      </a:r>
                      <a:r>
                        <a:rPr dirty="0"/>
                        <a:t>26%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attn-v1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91.392%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86.231%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attn-v2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t>92.056%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89.597%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33248"/>
                          </a:solidFill>
                          <a:latin typeface="Avenir Next"/>
                        </a:defRPr>
                      </a:pPr>
                      <a:r>
                        <a:rPr dirty="0"/>
                        <a:t>100</a:t>
                      </a:r>
                    </a:p>
                  </a:txBody>
                  <a:tcPr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82880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94960"/>
            <a:ext cx="10607040" cy="54864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233248"/>
                </a:solidFill>
                <a:latin typeface="Avenir Next"/>
              </a:defRPr>
            </a:pPr>
            <a:r>
              <a:t>Attention v2 is a strong repair over attention v1, but it still trails the local baseline by 0.403 points in instance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3D MNIST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A practical second dataset for cross-dataset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Why 3D 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314553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It was available locally as point-cloud-oriented HDF5 files.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It could be integrated much faster than ScanObjectNN or raw ShapeNetCore.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It still provides a real second 3D classification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74720" cy="73152"/>
          </a:xfrm>
          <a:prstGeom prst="rect">
            <a:avLst/>
          </a:prstGeom>
          <a:solidFill>
            <a:srgbClr val="51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97510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What the loader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40864"/>
            <a:ext cx="314553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Read HDF5 groups with points, normals, and labels.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Sample each object down to 1024 points.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Normalize XYZ and optionally concatenate normals.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975104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Dataset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340864"/>
            <a:ext cx="305409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Train: 5000 samples.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Test: 1000 samples.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Classes: 10.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t>Average raw point count above 20k.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3D MNIST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A clean same-setting comparison between baseline and attn-v2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14630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0482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747"/>
                </a:solidFill>
                <a:latin typeface="Avenir Next"/>
              </a:defRPr>
            </a:pPr>
            <a:r>
              <a:t>98.611%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Baseline best instance acc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377440" cy="14630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965960"/>
            <a:ext cx="20482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747"/>
                </a:solidFill>
                <a:latin typeface="Avenir Next"/>
              </a:defRPr>
            </a:pPr>
            <a:r>
              <a:t>98.623%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87168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Baseline best class acc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2377440" cy="14630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1965960"/>
            <a:ext cx="20482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  <a:latin typeface="Avenir Next"/>
              </a:defRPr>
            </a:pPr>
            <a:r>
              <a:t>98.710%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487168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attn-v2 best instance acc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807208"/>
            <a:ext cx="20482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754"/>
                </a:solidFill>
                <a:latin typeface="Avenir Next"/>
              </a:defRPr>
            </a:pPr>
            <a:r>
              <a:t>+0.099 vs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828800"/>
            <a:ext cx="2377440" cy="14630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14232" y="1965960"/>
            <a:ext cx="20482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8754"/>
                </a:solidFill>
                <a:latin typeface="Avenir Next"/>
              </a:defRPr>
            </a:pPr>
            <a:r>
              <a:t>98.939%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487168"/>
            <a:ext cx="2048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248"/>
                </a:solidFill>
                <a:latin typeface="Avenir Next"/>
              </a:defRPr>
            </a:pPr>
            <a:r>
              <a:t>attn-v2 best class acc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807208"/>
            <a:ext cx="20482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754"/>
                </a:solidFill>
                <a:latin typeface="Avenir Next"/>
              </a:defRPr>
            </a:pPr>
            <a:r>
              <a:t>+0.316 vs baseline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68680" y="3657600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3794760"/>
            <a:ext cx="4572000" cy="182880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233248"/>
                </a:solidFill>
                <a:latin typeface="Avenir Next"/>
              </a:defRPr>
            </a:pPr>
            <a:r>
              <a:t>Baseline learns faster at the start.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233248"/>
                </a:solidFill>
                <a:latin typeface="Avenir Next"/>
              </a:defRPr>
            </a:pPr>
            <a:r>
              <a:t>attn-v2 catches up gradually and ends slightly stronger on both best metrics.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233248"/>
                </a:solidFill>
                <a:latin typeface="Avenir Next"/>
              </a:defRPr>
            </a:pPr>
            <a:r>
              <a:t>The gain is small, but it is consistent and class-aware.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Drawbacks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The final result is credible because the limitations are explicit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937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49377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4608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Drawbacks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40864"/>
            <a:ext cx="4608576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attn-v2 does not beat the strongest local baseline on ModelNet40 instance accuracy.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The parameter count is very high: 5.95M vs 1.48M for baseline.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No full ablation and no multi-seed evaluation were run.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3D MNIST is useful but not a strong realism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4572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4572000" cy="731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975104"/>
            <a:ext cx="4242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747"/>
                </a:solidFill>
                <a:latin typeface="Avenir Next"/>
              </a:defRPr>
            </a:pPr>
            <a:r>
              <a:t>Recommended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40864"/>
            <a:ext cx="4242816" cy="1724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Ablate masked attention, hybrid pooling, cross-level fusion, and classifier depth separately.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Reduce the late-stage parameter cost in attention v2.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33248"/>
                </a:solidFill>
                <a:latin typeface="Avenir Next"/>
              </a:defRPr>
            </a:pPr>
            <a:r>
              <a:rPr dirty="0"/>
              <a:t>Evaluate on a stronger second dataset such as </a:t>
            </a:r>
            <a:r>
              <a:rPr dirty="0" err="1"/>
              <a:t>ScanObjectNN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777240"/>
            <a:ext cx="2926080" cy="2926080"/>
          </a:xfrm>
          <a:prstGeom prst="ellipse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411480"/>
            <a:ext cx="1645920" cy="384048"/>
          </a:xfrm>
          <a:prstGeom prst="roundRect">
            <a:avLst/>
          </a:prstGeom>
          <a:solidFill>
            <a:srgbClr val="E9F2FB"/>
          </a:solidFill>
          <a:ln>
            <a:solidFill>
              <a:srgbClr val="E9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  <a:latin typeface="Avenir Next"/>
              </a:defRPr>
            </a:pPr>
            <a: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t>Final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0874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7667A"/>
                </a:solidFill>
                <a:latin typeface="Avenir Next"/>
              </a:defRPr>
            </a:pPr>
            <a:r>
              <a:t>A balanced result is still a strong research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6583680" cy="1906932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233248"/>
                </a:solidFill>
                <a:latin typeface="Avenir Next"/>
              </a:defRPr>
            </a:pPr>
            <a:r>
              <a:rPr dirty="0"/>
              <a:t>The project delivered a stable Apple Silicon pipeline, a corrected attention model, and a reusable cross-dataset evaluation workflow.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900">
                <a:solidFill>
                  <a:srgbClr val="233248"/>
                </a:solidFill>
                <a:latin typeface="Avenir Next"/>
              </a:defRPr>
            </a:pPr>
            <a:r>
              <a:rPr dirty="0"/>
              <a:t>Attention v2 is clearly better than attention v1 and shows modest promise on a second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6E32-0F73-DC2A-5341-21FFECE1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18A7E4-F5D8-923D-F320-246D1BD492C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D0DDB-2B35-3B92-9AB3-3190368ED1D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C8E5B-473A-7BAD-E42D-04CDBCA31C6C}"/>
              </a:ext>
            </a:extLst>
          </p:cNvPr>
          <p:cNvSpPr txBox="1"/>
          <p:nvPr/>
        </p:nvSpPr>
        <p:spPr>
          <a:xfrm>
            <a:off x="4133778" y="2614058"/>
            <a:ext cx="4794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747"/>
                </a:solidFill>
                <a:latin typeface="Avenir Next"/>
              </a:defRPr>
            </a:pPr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</a:t>
            </a:r>
            <a:r>
              <a:rPr lang="zh-CN" alt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you</a:t>
            </a:r>
            <a:endParaRPr sz="6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2B36C4-32EF-B4C4-11BF-8EAD62D72419}"/>
              </a:ext>
            </a:extLst>
          </p:cNvPr>
          <p:cNvSpPr/>
          <p:nvPr/>
        </p:nvSpPr>
        <p:spPr>
          <a:xfrm>
            <a:off x="548640" y="6455664"/>
            <a:ext cx="11064240" cy="91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AC031-927A-339A-296E-764C928F762C}"/>
              </a:ext>
            </a:extLst>
          </p:cNvPr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7667A"/>
                </a:solidFill>
                <a:latin typeface="Avenir Next"/>
              </a:defRPr>
            </a:pPr>
            <a:r>
              <a:t>PointNet++ Attention Enhancement</a:t>
            </a:r>
          </a:p>
        </p:txBody>
      </p:sp>
    </p:spTree>
    <p:extLst>
      <p:ext uri="{BB962C8B-B14F-4D97-AF65-F5344CB8AC3E}">
        <p14:creationId xmlns:p14="http://schemas.microsoft.com/office/powerpoint/2010/main" val="21029554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7*62"/>
  <p:tag name="TABLE_ENDDRAG_RECT" val="289*284*307*6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1216</Words>
  <Application>Microsoft Macintosh PowerPoint</Application>
  <PresentationFormat>Widescreen</PresentationFormat>
  <Paragraphs>218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PointNet++ Attention Enhancement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Jiang Yuchen</cp:lastModifiedBy>
  <cp:revision>12</cp:revision>
  <dcterms:created xsi:type="dcterms:W3CDTF">2013-01-27T09:14:16Z</dcterms:created>
  <dcterms:modified xsi:type="dcterms:W3CDTF">2026-04-16T13:16:15Z</dcterms:modified>
  <cp:category/>
</cp:coreProperties>
</file>